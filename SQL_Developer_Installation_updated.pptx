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7" r:id="rId2"/>
    <p:sldId id="256" r:id="rId3"/>
    <p:sldId id="258" r:id="rId4"/>
    <p:sldId id="259" r:id="rId5"/>
    <p:sldId id="260" r:id="rId6"/>
    <p:sldId id="261" r:id="rId7"/>
    <p:sldId id="262" r:id="rId8"/>
    <p:sldId id="263" r:id="rId9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35"/>
  </p:normalViewPr>
  <p:slideViewPr>
    <p:cSldViewPr snapToGrid="0" snapToObjects="1">
      <p:cViewPr varScale="1">
        <p:scale>
          <a:sx n="120" d="100"/>
          <a:sy n="120" d="100"/>
        </p:scale>
        <p:origin x="800" y="1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4-26T09:54:04.420"/>
    </inkml:context>
    <inkml:brush xml:id="br0">
      <inkml:brushProperty name="width" value="0.05" units="cm"/>
      <inkml:brushProperty name="height" value="0.05" units="cm"/>
      <inkml:brushProperty name="color" value="#00A0D7"/>
      <inkml:brushProperty name="ignorePressure" value="1"/>
    </inkml:brush>
  </inkml:definitions>
  <inkml:trace contextRef="#ctx0" brushRef="#br0">2160 1,'-1556'0,"3135"0,-3750 0,2160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4-26T10:05:49.237"/>
    </inkml:context>
    <inkml:brush xml:id="br0">
      <inkml:brushProperty name="width" value="0.05" units="cm"/>
      <inkml:brushProperty name="height" value="0.05" units="cm"/>
      <inkml:brushProperty name="color" value="#00A0D7"/>
      <inkml:brushProperty name="ignorePressure" value="1"/>
    </inkml:brush>
  </inkml:definitions>
  <inkml:trace contextRef="#ctx0" brushRef="#br0">2160 1,'-1556'0,"3135"0,-3750 0,2160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4-26T08:57:02.294"/>
    </inkml:context>
    <inkml:brush xml:id="br0">
      <inkml:brushProperty name="width" value="0.05" units="cm"/>
      <inkml:brushProperty name="height" value="0.05" units="cm"/>
      <inkml:brushProperty name="color" value="#00A0D7"/>
      <inkml:brushProperty name="ignorePressure" value="1"/>
    </inkml:brush>
  </inkml:definitions>
  <inkml:trace contextRef="#ctx0" brushRef="#br0">2160 1,'-1556'0,"3135"0,-3750 0,2160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4-26T08:36:17.271"/>
    </inkml:context>
    <inkml:brush xml:id="br0">
      <inkml:brushProperty name="width" value="0.05" units="cm"/>
      <inkml:brushProperty name="height" value="0.05" units="cm"/>
      <inkml:brushProperty name="color" value="#00A0D7"/>
      <inkml:brushProperty name="ignorePressure" value="1"/>
    </inkml:brush>
  </inkml:definitions>
  <inkml:trace contextRef="#ctx0" brushRef="#br0">6287 1,'-4530'0,"9128"0,-10921 0,6292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4-26T08:48:09.516"/>
    </inkml:context>
    <inkml:brush xml:id="br0">
      <inkml:brushProperty name="width" value="0.05" units="cm"/>
      <inkml:brushProperty name="height" value="0.05" units="cm"/>
      <inkml:brushProperty name="color" value="#00A0D7"/>
      <inkml:brushProperty name="ignorePressure" value="1"/>
    </inkml:brush>
  </inkml:definitions>
  <inkml:trace contextRef="#ctx0" brushRef="#br0">7234 1,'-5213'0,"10503"0,-12565 0,7240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4-26T08:35:15.250"/>
    </inkml:context>
    <inkml:brush xml:id="br0">
      <inkml:brushProperty name="width" value="0.05" units="cm"/>
      <inkml:brushProperty name="height" value="0.05" units="cm"/>
      <inkml:brushProperty name="color" value="#00A0D7"/>
      <inkml:brushProperty name="ignorePressure" value="1"/>
    </inkml:brush>
  </inkml:definitions>
  <inkml:trace contextRef="#ctx0" brushRef="#br0">801 1,'-576'0,"1161"0,-1390 0,801 0</inkml:trace>
</inkml:ink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S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350A7D-7B58-EA49-955D-AA4075B5B4C9}" type="datetimeFigureOut">
              <a:rPr lang="en-SA" smtClean="0"/>
              <a:t>08/10/2026 R</a:t>
            </a:fld>
            <a:endParaRPr lang="en-S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S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S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6F244F-0F44-5645-B4E4-8A08DAE319E7}" type="slidenum">
              <a:rPr lang="en-SA" smtClean="0"/>
              <a:t>‹#›</a:t>
            </a:fld>
            <a:endParaRPr lang="en-SA"/>
          </a:p>
        </p:txBody>
      </p:sp>
    </p:spTree>
    <p:extLst>
      <p:ext uri="{BB962C8B-B14F-4D97-AF65-F5344CB8AC3E}">
        <p14:creationId xmlns:p14="http://schemas.microsoft.com/office/powerpoint/2010/main" val="22263235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6F244F-0F44-5645-B4E4-8A08DAE319E7}" type="slidenum">
              <a:rPr lang="en-SA" smtClean="0"/>
              <a:t>5</a:t>
            </a:fld>
            <a:endParaRPr lang="en-SA"/>
          </a:p>
        </p:txBody>
      </p:sp>
    </p:spTree>
    <p:extLst>
      <p:ext uri="{BB962C8B-B14F-4D97-AF65-F5344CB8AC3E}">
        <p14:creationId xmlns:p14="http://schemas.microsoft.com/office/powerpoint/2010/main" val="5762612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6F244F-0F44-5645-B4E4-8A08DAE319E7}" type="slidenum">
              <a:rPr lang="en-SA" smtClean="0"/>
              <a:t>7</a:t>
            </a:fld>
            <a:endParaRPr lang="en-SA"/>
          </a:p>
        </p:txBody>
      </p:sp>
    </p:spTree>
    <p:extLst>
      <p:ext uri="{BB962C8B-B14F-4D97-AF65-F5344CB8AC3E}">
        <p14:creationId xmlns:p14="http://schemas.microsoft.com/office/powerpoint/2010/main" val="435769284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oracle.com/database/sqldeveloper/" TargetMode="External"/><Relationship Id="rId3" Type="http://schemas.openxmlformats.org/officeDocument/2006/relationships/hyperlink" Target="https://docs.docker.com/desktop/setup/install/mac-install/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customXml" Target="../ink/ink1.xml"/><Relationship Id="rId4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customXml" Target="../ink/ink2.xml"/><Relationship Id="rId5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Relationship Id="rId4" Type="http://schemas.openxmlformats.org/officeDocument/2006/relationships/image" Target="../media/image7.jpg"/><Relationship Id="rId5" Type="http://schemas.openxmlformats.org/officeDocument/2006/relationships/customXml" Target="../ink/ink3.xml"/><Relationship Id="rId6" Type="http://schemas.openxmlformats.org/officeDocument/2006/relationships/image" Target="../media/image3.png"/><Relationship Id="rId7" Type="http://schemas.openxmlformats.org/officeDocument/2006/relationships/image" Target="../media/image8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customXml" Target="../ink/ink4.xml"/><Relationship Id="rId4" Type="http://schemas.openxmlformats.org/officeDocument/2006/relationships/image" Target="../media/image10.png"/><Relationship Id="rId5" Type="http://schemas.openxmlformats.org/officeDocument/2006/relationships/customXml" Target="../ink/ink5.xml"/><Relationship Id="rId6" Type="http://schemas.openxmlformats.org/officeDocument/2006/relationships/image" Target="../media/image1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jpg"/><Relationship Id="rId4" Type="http://schemas.openxmlformats.org/officeDocument/2006/relationships/customXml" Target="../ink/ink6.xml"/><Relationship Id="rId5" Type="http://schemas.openxmlformats.org/officeDocument/2006/relationships/image" Target="../media/image1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Picture 44">
            <a:extLst>
              <a:ext uri="{FF2B5EF4-FFF2-40B4-BE49-F238E27FC236}">
                <a16:creationId xmlns:a16="http://schemas.microsoft.com/office/drawing/2014/main" id="{1954F9A2-1136-440C-C034-FC90FA123F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2801" y="521553"/>
            <a:ext cx="3526397" cy="3547182"/>
          </a:xfrm>
          <a:prstGeom prst="rect">
            <a:avLst/>
          </a:prstGeom>
        </p:spPr>
      </p:pic>
      <p:sp>
        <p:nvSpPr>
          <p:cNvPr id="46" name="TextBox 45">
            <a:extLst>
              <a:ext uri="{FF2B5EF4-FFF2-40B4-BE49-F238E27FC236}">
                <a16:creationId xmlns:a16="http://schemas.microsoft.com/office/drawing/2014/main" id="{21DA9471-AB72-E27C-9905-AABAA4E3FD21}"/>
              </a:ext>
            </a:extLst>
          </p:cNvPr>
          <p:cNvSpPr txBox="1"/>
          <p:nvPr/>
        </p:nvSpPr>
        <p:spPr>
          <a:xfrm>
            <a:off x="3943085" y="4572000"/>
            <a:ext cx="430265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Assignment: </a:t>
            </a:r>
            <a:r>
              <a:rPr lang="en-US" sz="2000" dirty="0"/>
              <a:t>SQL Developer Installation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8F88F0B6-9E26-CA51-FB34-C75B0CF447A4}"/>
              </a:ext>
            </a:extLst>
          </p:cNvPr>
          <p:cNvSpPr txBox="1"/>
          <p:nvPr/>
        </p:nvSpPr>
        <p:spPr>
          <a:xfrm>
            <a:off x="4304417" y="5164631"/>
            <a:ext cx="36971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Name</a:t>
            </a:r>
            <a:r>
              <a:rPr lang="en-US" sz="2000" dirty="0"/>
              <a:t>: Syed Mujtaba Ul Hassan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49136E7-908B-F865-1BD2-545F09200A5F}"/>
              </a:ext>
            </a:extLst>
          </p:cNvPr>
          <p:cNvSpPr txBox="1"/>
          <p:nvPr/>
        </p:nvSpPr>
        <p:spPr>
          <a:xfrm>
            <a:off x="5160742" y="5757262"/>
            <a:ext cx="203902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BS-IT Department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086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3247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 dirty="0">
                <a:solidFill>
                  <a:srgbClr val="1A1A2E"/>
                </a:solidFill>
                <a:latin typeface="Calibri"/>
              </a:rPr>
              <a:t>How to Install &amp; Run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4880"/>
            <a:ext cx="10972800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 dirty="0">
                <a:solidFill>
                  <a:srgbClr val="C0392B"/>
                </a:solidFill>
                <a:latin typeface="Calibri"/>
              </a:rPr>
              <a:t>Oracle SQL Developer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0" y="2153560"/>
            <a:ext cx="6702552" cy="3657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48640" y="6351128"/>
            <a:ext cx="109728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 dirty="0">
                <a:solidFill>
                  <a:srgbClr val="445570"/>
                </a:solidFill>
                <a:latin typeface="Calibri"/>
              </a:rPr>
              <a:t>Follow each step carefully </a:t>
            </a:r>
            <a:r>
              <a:rPr lang="en-US" sz="1400" i="1" dirty="0">
                <a:solidFill>
                  <a:srgbClr val="445570"/>
                </a:solidFill>
                <a:latin typeface="Calibri"/>
              </a:rPr>
              <a:t>"</a:t>
            </a:r>
            <a:r>
              <a:rPr sz="1400" b="0" i="1" dirty="0">
                <a:solidFill>
                  <a:srgbClr val="445570"/>
                </a:solidFill>
                <a:latin typeface="Calibri"/>
              </a:rPr>
              <a:t> screenshots </a:t>
            </a:r>
            <a:r>
              <a:rPr lang="en-US" sz="1400" b="0" i="1" dirty="0">
                <a:solidFill>
                  <a:srgbClr val="445570"/>
                </a:solidFill>
                <a:latin typeface="Calibri"/>
              </a:rPr>
              <a:t>are </a:t>
            </a:r>
            <a:r>
              <a:rPr sz="1400" b="0" i="1" dirty="0">
                <a:solidFill>
                  <a:srgbClr val="445570"/>
                </a:solidFill>
                <a:latin typeface="Calibri"/>
              </a:rPr>
              <a:t>included</a:t>
            </a:r>
            <a:r>
              <a:rPr lang="en-US" sz="1400" b="0" i="1" dirty="0">
                <a:solidFill>
                  <a:srgbClr val="445570"/>
                </a:solidFill>
                <a:latin typeface="Calibri"/>
              </a:rPr>
              <a:t>"</a:t>
            </a:r>
            <a:endParaRPr sz="1400" b="0" i="1" dirty="0">
              <a:solidFill>
                <a:srgbClr val="445570"/>
              </a:solidFill>
              <a:latin typeface="Calibri"/>
            </a:endParaRPr>
          </a:p>
        </p:txBody>
      </p:sp>
      <p:sp>
        <p:nvSpPr>
          <p:cNvPr id="42" name="Rectangle 2">
            <a:extLst>
              <a:ext uri="{FF2B5EF4-FFF2-40B4-BE49-F238E27FC236}">
                <a16:creationId xmlns:a16="http://schemas.microsoft.com/office/drawing/2014/main" id="{D83370CC-0552-D74A-FA49-D357DBD66B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8012" y="2493222"/>
            <a:ext cx="10972800" cy="35548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</a:pPr>
            <a:r>
              <a:rPr kumimoji="0" lang="en-SA" altLang="en-SA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Step 1: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SA" altLang="en-SA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kumimoji="0" lang="en-SA" altLang="en-SA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Download Oracle SQL Developer from </a:t>
            </a:r>
            <a:r>
              <a:rPr lang="en-US" dirty="0">
                <a:solidFill>
                  <a:srgbClr val="121212"/>
                </a:solidFill>
                <a:latin typeface="Anthropic Sans"/>
                <a:hlinkClick r:id="rId2"/>
              </a:rPr>
              <a:t>https://www.oracle.com/database/sqldeveloper/</a:t>
            </a:r>
            <a:r>
              <a:rPr lang="en-SA" dirty="0">
                <a:solidFill>
                  <a:srgbClr val="121212"/>
                </a:solidFill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official site.</a:t>
            </a:r>
            <a:endParaRPr kumimoji="0" lang="en-SA" altLang="en-SA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</a:pPr>
            <a:r>
              <a:rPr kumimoji="0" lang="en-SA" altLang="en-SA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Step 2: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SA" altLang="en-SA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kumimoji="0" lang="en-SA" altLang="en-SA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Install Docker Desktop (macOS) from </a:t>
            </a:r>
            <a:r>
              <a:rPr lang="en-US" dirty="0">
                <a:solidFill>
                  <a:srgbClr val="121212"/>
                </a:solidFill>
                <a:latin typeface="Anthropic Sans"/>
                <a:hlinkClick r:id="rId3"/>
              </a:rPr>
              <a:t>https://docs.docker.com/desktop/setup/install/mac-install/</a:t>
            </a:r>
            <a:r>
              <a:rPr lang="en-US" dirty="0">
                <a:solidFill>
                  <a:srgbClr val="121212"/>
                </a:solidFill>
                <a:latin typeface="Anthropic Sans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official site.</a:t>
            </a:r>
            <a:endParaRPr kumimoji="0" lang="en-SA" altLang="en-SA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</a:pPr>
            <a:r>
              <a:rPr kumimoji="0" lang="en-SA" altLang="en-SA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Step 3: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SA" altLang="en-SA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kumimoji="0" lang="en-SA" altLang="en-SA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Run Database Container (Docker).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</a:pPr>
            <a:r>
              <a:rPr kumimoji="0" lang="en-SA" altLang="en-SA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Step 4: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SA" altLang="en-SA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kumimoji="0" lang="en-SA" altLang="en-SA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Launch SQL Developer.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</a:pPr>
            <a:r>
              <a:rPr kumimoji="0" lang="en-SA" altLang="en-SA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Step 5: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SA" altLang="en-SA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kumimoji="0" lang="en-SA" altLang="en-SA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Connect to Database via Docker.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Picture 31">
            <a:extLst>
              <a:ext uri="{FF2B5EF4-FFF2-40B4-BE49-F238E27FC236}">
                <a16:creationId xmlns:a16="http://schemas.microsoft.com/office/drawing/2014/main" id="{0B10D74D-CA9F-7C3F-A254-75AC86A676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186" y="1623931"/>
            <a:ext cx="7214741" cy="4057204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57200" y="590657"/>
            <a:ext cx="1005840" cy="4572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38785" y="663811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STEP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608947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1A2E"/>
                </a:solidFill>
                <a:latin typeface="Calibri"/>
              </a:rPr>
              <a:t>Download Oracle SQL Developer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230739"/>
            <a:ext cx="6858000" cy="3657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831713" y="1230739"/>
            <a:ext cx="4297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86AA8"/>
                </a:solidFill>
                <a:latin typeface="Calibri"/>
              </a:rPr>
              <a:t>How to download: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831713" y="1733659"/>
            <a:ext cx="384048" cy="38404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831713" y="1733659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88913" y="1770235"/>
            <a:ext cx="4023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Go to oracle.com/database/sqldeveloper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831713" y="2556619"/>
            <a:ext cx="384048" cy="38404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831713" y="2556619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88913" y="2593195"/>
            <a:ext cx="4023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Click 'Download SQL Developer'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831713" y="3379579"/>
            <a:ext cx="384048" cy="38404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831713" y="3379579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88913" y="3416155"/>
            <a:ext cx="4023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Choose macOS (includes JDK 17)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831713" y="4202539"/>
            <a:ext cx="384048" cy="38404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831713" y="4202539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88913" y="4239115"/>
            <a:ext cx="4023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Sign in with free Oracle account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831713" y="5025499"/>
            <a:ext cx="384048" cy="38404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831713" y="5025499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88913" y="5062075"/>
            <a:ext cx="40233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1A1A2E"/>
                </a:solidFill>
                <a:latin typeface="Calibri"/>
              </a:rPr>
              <a:t>Download the .zip file 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83D973DC-5478-5E19-CEFB-ABD19079C9F9}"/>
              </a:ext>
            </a:extLst>
          </p:cNvPr>
          <p:cNvSpPr/>
          <p:nvPr/>
        </p:nvSpPr>
        <p:spPr>
          <a:xfrm>
            <a:off x="210186" y="1611086"/>
            <a:ext cx="3496841" cy="1133856"/>
          </a:xfrm>
          <a:prstGeom prst="rect">
            <a:avLst/>
          </a:prstGeom>
          <a:noFill/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457200" y="2600664"/>
            <a:ext cx="2926080" cy="34747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65958" y="2641441"/>
            <a:ext cx="214707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 dirty="0">
                <a:solidFill>
                  <a:srgbClr val="FFFFFF"/>
                </a:solidFill>
                <a:latin typeface="Calibri"/>
              </a:rPr>
              <a:t> Click HERE to download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ED6A0379-0AB1-9846-C84F-4D257A1D356E}"/>
                  </a:ext>
                </a:extLst>
              </p14:cNvPr>
              <p14:cNvContentPartPr/>
              <p14:nvPr/>
            </p14:nvContentPartPr>
            <p14:xfrm rot="2730002">
              <a:off x="794778" y="2285763"/>
              <a:ext cx="785618" cy="360"/>
            </p14:xfrm>
          </p:contentPart>
        </mc:Choice>
        <mc:Fallback xmlns=""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ED6A0379-0AB1-9846-C84F-4D257A1D356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 rot="2730002">
                <a:off x="785781" y="2276763"/>
                <a:ext cx="803252" cy="180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57200" y="182880"/>
            <a:ext cx="1005840" cy="4572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31713" y="274320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STEP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201168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1A2E"/>
                </a:solidFill>
                <a:latin typeface="Calibri"/>
              </a:rPr>
              <a:t>Install &amp; Launch SQL Developer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822959"/>
            <a:ext cx="5812562" cy="45719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45170" y="5998464"/>
            <a:ext cx="2926080" cy="34747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381983" y="6041395"/>
            <a:ext cx="283464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1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sz="1100" b="1" i="0" dirty="0">
                <a:solidFill>
                  <a:srgbClr val="FFFFFF"/>
                </a:solidFill>
                <a:latin typeface="Calibri"/>
              </a:rPr>
              <a:t>  Click + to add connection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23314" y="715991"/>
            <a:ext cx="5852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86AA8"/>
                </a:solidFill>
                <a:latin typeface="Calibri"/>
              </a:rPr>
              <a:t>After downloading: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61486" y="1303464"/>
            <a:ext cx="384048" cy="38404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57908" y="132588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23314" y="1357884"/>
            <a:ext cx="53949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dirty="0">
                <a:solidFill>
                  <a:srgbClr val="1A1A2E"/>
                </a:solidFill>
                <a:latin typeface="Calibri"/>
              </a:rPr>
              <a:t>Unzip the downloaded .zip file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7908" y="2256000"/>
            <a:ext cx="384048" cy="38404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59680" y="2281872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23314" y="2258568"/>
            <a:ext cx="53949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>
                <a:solidFill>
                  <a:srgbClr val="1A1A2E"/>
                </a:solidFill>
                <a:latin typeface="Calibri"/>
              </a:rPr>
              <a:t>Find 'SQL Developer.app' inside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8750" y="3152324"/>
            <a:ext cx="384048" cy="38404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58750" y="3178196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23314" y="3122022"/>
            <a:ext cx="53949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dirty="0">
                <a:solidFill>
                  <a:srgbClr val="1A1A2E"/>
                </a:solidFill>
                <a:latin typeface="Calibri"/>
              </a:rPr>
              <a:t>Drag it to your Applications folder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58750" y="4060473"/>
            <a:ext cx="384048" cy="38404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358750" y="4082831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00414" y="3894944"/>
            <a:ext cx="539496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>
                <a:solidFill>
                  <a:srgbClr val="1A1A2E"/>
                </a:solidFill>
                <a:latin typeface="Calibri"/>
              </a:rPr>
              <a:t>Open — if blocked:
System Settings → Privacy &amp; Security
→ click 'Open Anyway'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568874" y="5250746"/>
            <a:ext cx="384048" cy="38404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556517" y="5269383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 dirty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99024" y="5138242"/>
            <a:ext cx="53949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dirty="0">
                <a:solidFill>
                  <a:srgbClr val="1A1A2E"/>
                </a:solidFill>
                <a:latin typeface="Calibri"/>
              </a:rPr>
              <a:t>Click the green + button
to add a new connection</a:t>
            </a: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934ECE62-60C6-090F-8D00-1DD958F065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099" y="1259084"/>
            <a:ext cx="5920607" cy="4602222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B9C577A7-9E48-A707-7CCB-EFC3E420FD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8768" y="4845144"/>
            <a:ext cx="3075902" cy="195072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624B0D0E-9A5D-2FDC-EF10-A99B54FF7AE8}"/>
                  </a:ext>
                </a:extLst>
              </p14:cNvPr>
              <p14:cNvContentPartPr/>
              <p14:nvPr/>
            </p14:nvContentPartPr>
            <p14:xfrm>
              <a:off x="7176065" y="6345936"/>
              <a:ext cx="785618" cy="360"/>
            </p14:xfrm>
          </p:contentPart>
        </mc:Choice>
        <mc:Fallback xmlns=""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624B0D0E-9A5D-2FDC-EF10-A99B54FF7AE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167068" y="6336936"/>
                <a:ext cx="803252" cy="18000"/>
              </a:xfrm>
              <a:prstGeom prst="rect">
                <a:avLst/>
              </a:prstGeom>
            </p:spPr>
          </p:pic>
        </mc:Fallback>
      </mc:AlternateContent>
      <p:sp>
        <p:nvSpPr>
          <p:cNvPr id="32" name="TextBox 31">
            <a:extLst>
              <a:ext uri="{FF2B5EF4-FFF2-40B4-BE49-F238E27FC236}">
                <a16:creationId xmlns:a16="http://schemas.microsoft.com/office/drawing/2014/main" id="{217BD0F0-601D-A416-0300-0E504E92AB19}"/>
              </a:ext>
            </a:extLst>
          </p:cNvPr>
          <p:cNvSpPr txBox="1"/>
          <p:nvPr/>
        </p:nvSpPr>
        <p:spPr>
          <a:xfrm>
            <a:off x="7931107" y="6161270"/>
            <a:ext cx="35431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0" i="0" dirty="0">
                <a:solidFill>
                  <a:srgbClr val="1A1A2E"/>
                </a:solidFill>
                <a:latin typeface="Calibri"/>
              </a:rPr>
              <a:t> 3</a:t>
            </a:r>
            <a:endParaRPr b="0" i="0" dirty="0">
              <a:solidFill>
                <a:srgbClr val="1A1A2E"/>
              </a:solidFill>
              <a:latin typeface="Calibri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A84DB21A-1FF3-C4E6-9629-29F534DB97FE}"/>
              </a:ext>
            </a:extLst>
          </p:cNvPr>
          <p:cNvSpPr/>
          <p:nvPr/>
        </p:nvSpPr>
        <p:spPr>
          <a:xfrm>
            <a:off x="7961683" y="6157222"/>
            <a:ext cx="354317" cy="369332"/>
          </a:xfrm>
          <a:prstGeom prst="rect">
            <a:avLst/>
          </a:prstGeom>
          <a:noFill/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86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70916" y="351733"/>
            <a:ext cx="1005840" cy="457200"/>
          </a:xfrm>
          <a:prstGeom prst="rect">
            <a:avLst/>
          </a:prstGeom>
          <a:solidFill>
            <a:srgbClr val="086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79" y="464845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STEP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353425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 dirty="0">
                <a:solidFill>
                  <a:srgbClr val="1A1A2E"/>
                </a:solidFill>
                <a:latin typeface="Calibri"/>
              </a:rPr>
              <a:t>Install Docker Desktop (</a:t>
            </a:r>
            <a:r>
              <a:rPr lang="en-US" sz="2600" b="1" dirty="0">
                <a:solidFill>
                  <a:srgbClr val="1A1A2E"/>
                </a:solidFill>
                <a:latin typeface="Calibri"/>
              </a:rPr>
              <a:t>m</a:t>
            </a:r>
            <a:r>
              <a:rPr lang="en-US" sz="2600" b="1" i="0" dirty="0">
                <a:solidFill>
                  <a:srgbClr val="1A1A2E"/>
                </a:solidFill>
                <a:latin typeface="Calibri"/>
              </a:rPr>
              <a:t>acOS M1 / </a:t>
            </a:r>
            <a:r>
              <a:rPr sz="2600" b="1" i="0" dirty="0">
                <a:solidFill>
                  <a:srgbClr val="1A1A2E"/>
                </a:solidFill>
                <a:latin typeface="Calibri"/>
              </a:rPr>
              <a:t>M</a:t>
            </a:r>
            <a:r>
              <a:rPr lang="en-US" sz="2600" b="1" i="0" dirty="0">
                <a:solidFill>
                  <a:srgbClr val="1A1A2E"/>
                </a:solidFill>
                <a:latin typeface="Calibri"/>
              </a:rPr>
              <a:t>2 / M3</a:t>
            </a:r>
            <a:r>
              <a:rPr sz="2600" b="1" i="0" dirty="0">
                <a:solidFill>
                  <a:srgbClr val="1A1A2E"/>
                </a:solidFill>
                <a:latin typeface="Calibri"/>
              </a:rPr>
              <a:t> Setup)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214438"/>
            <a:ext cx="2606040" cy="457200"/>
          </a:xfrm>
          <a:prstGeom prst="rect">
            <a:avLst/>
          </a:prstGeom>
          <a:solidFill>
            <a:srgbClr val="086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1278661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Step 1  Download Docker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0916" y="2264328"/>
            <a:ext cx="2331720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1A1A2E"/>
                </a:solidFill>
                <a:latin typeface="Calibri"/>
              </a:rPr>
              <a:t>Go to </a:t>
            </a:r>
            <a:r>
              <a:rPr sz="1100" b="0" i="0" dirty="0" err="1">
                <a:solidFill>
                  <a:srgbClr val="1A1A2E"/>
                </a:solidFill>
                <a:latin typeface="Calibri"/>
              </a:rPr>
              <a:t>docker.com</a:t>
            </a:r>
            <a:r>
              <a:rPr sz="1100" b="0" i="0" dirty="0">
                <a:solidFill>
                  <a:srgbClr val="1A1A2E"/>
                </a:solidFill>
                <a:latin typeface="Calibri"/>
              </a:rPr>
              <a:t>/products/
docker-desktop</a:t>
            </a:r>
            <a:r>
              <a:rPr lang="en-US" sz="1100" b="0" i="0" dirty="0">
                <a:solidFill>
                  <a:srgbClr val="1A1A2E"/>
                </a:solidFill>
                <a:latin typeface="Calibri"/>
              </a:rPr>
              <a:t> ,</a:t>
            </a:r>
            <a:r>
              <a:rPr sz="1100" b="0" i="0" dirty="0">
                <a:solidFill>
                  <a:srgbClr val="1A1A2E"/>
                </a:solidFill>
                <a:latin typeface="Calibri"/>
              </a:rPr>
              <a:t> pick
Apple Silicon version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675228" y="2512886"/>
            <a:ext cx="274320" cy="54864"/>
          </a:xfrm>
          <a:prstGeom prst="rect">
            <a:avLst/>
          </a:prstGeom>
          <a:solidFill>
            <a:srgbClr val="E67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903828" y="2439734"/>
            <a:ext cx="73152" cy="201168"/>
          </a:xfrm>
          <a:prstGeom prst="rect">
            <a:avLst/>
          </a:prstGeom>
          <a:solidFill>
            <a:srgbClr val="E67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200400" y="1214438"/>
            <a:ext cx="2606040" cy="457200"/>
          </a:xfrm>
          <a:prstGeom prst="rect">
            <a:avLst/>
          </a:prstGeom>
          <a:solidFill>
            <a:srgbClr val="086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611879" y="1291766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Step 2  Install &amp; Open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768" y="2234261"/>
            <a:ext cx="2331720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1A1A2E"/>
                </a:solidFill>
                <a:latin typeface="Calibri"/>
              </a:rPr>
              <a:t>Install like a normal app.
Wait for the whale</a:t>
            </a:r>
            <a:r>
              <a:rPr lang="en-US" sz="1100" b="0" i="0" dirty="0">
                <a:solidFill>
                  <a:srgbClr val="1A1A2E"/>
                </a:solidFill>
                <a:latin typeface="Calibri"/>
              </a:rPr>
              <a:t> icon</a:t>
            </a:r>
            <a:r>
              <a:rPr sz="1100" b="0" i="0" dirty="0">
                <a:solidFill>
                  <a:srgbClr val="1A1A2E"/>
                </a:solidFill>
                <a:latin typeface="Calibri"/>
              </a:rPr>
              <a:t>
to appear in menu bar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555588" y="2512886"/>
            <a:ext cx="274320" cy="54864"/>
          </a:xfrm>
          <a:prstGeom prst="rect">
            <a:avLst/>
          </a:prstGeom>
          <a:solidFill>
            <a:srgbClr val="E67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784188" y="2439734"/>
            <a:ext cx="73152" cy="201168"/>
          </a:xfrm>
          <a:prstGeom prst="rect">
            <a:avLst/>
          </a:prstGeom>
          <a:solidFill>
            <a:srgbClr val="E67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080759" y="1214438"/>
            <a:ext cx="2606040" cy="4572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46518" y="1279931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dirty="0">
                <a:solidFill>
                  <a:srgbClr val="FFFFFF"/>
                </a:solidFill>
                <a:latin typeface="Calibri"/>
              </a:rPr>
              <a:t>Step 3  Enable Rosetta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96228" y="2264328"/>
            <a:ext cx="2331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1A1A2E"/>
                </a:solidFill>
                <a:latin typeface="Calibri"/>
              </a:rPr>
              <a:t>Settings → General → turn on
'Use Rosetta for x86/amd64
emulation on Apple Silicon'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686800" y="2512886"/>
            <a:ext cx="274320" cy="54864"/>
          </a:xfrm>
          <a:prstGeom prst="rect">
            <a:avLst/>
          </a:prstGeom>
          <a:solidFill>
            <a:srgbClr val="E67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8915400" y="2439734"/>
            <a:ext cx="73152" cy="201168"/>
          </a:xfrm>
          <a:prstGeom prst="rect">
            <a:avLst/>
          </a:prstGeom>
          <a:solidFill>
            <a:srgbClr val="E67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961119" y="1214438"/>
            <a:ext cx="2606040" cy="457200"/>
          </a:xfrm>
          <a:prstGeom prst="rect">
            <a:avLst/>
          </a:prstGeom>
          <a:solidFill>
            <a:srgbClr val="157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328598" y="1266988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Step 4  Apply &amp; Restart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78340" y="2264328"/>
            <a:ext cx="2331720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1A1A2E"/>
                </a:solidFill>
                <a:latin typeface="Calibri"/>
              </a:rPr>
              <a:t>Click Apply &amp; Restart.
Docker is now ready
for Oracle XE on M1</a:t>
            </a:r>
            <a:r>
              <a:rPr lang="en-US" sz="1100" dirty="0">
                <a:solidFill>
                  <a:srgbClr val="1A1A2E"/>
                </a:solidFill>
                <a:latin typeface="Calibri"/>
              </a:rPr>
              <a:t>/M2/M3</a:t>
            </a:r>
            <a:endParaRPr sz="1100" b="0" i="0" dirty="0">
              <a:solidFill>
                <a:srgbClr val="1A1A2E"/>
              </a:solidFill>
              <a:latin typeface="Calibri"/>
            </a:endParaRPr>
          </a:p>
        </p:txBody>
      </p:sp>
      <p:pic>
        <p:nvPicPr>
          <p:cNvPr id="29" name="Picture 28" descr="docker_arrow.png"/>
          <p:cNvPicPr>
            <a:picLocks noChangeAspect="1"/>
          </p:cNvPicPr>
          <p:nvPr/>
        </p:nvPicPr>
        <p:blipFill>
          <a:blip r:embed="rId3"/>
          <a:srcRect t="2" b="21259"/>
          <a:stretch>
            <a:fillRect/>
          </a:stretch>
        </p:blipFill>
        <p:spPr>
          <a:xfrm>
            <a:off x="18553" y="3872050"/>
            <a:ext cx="5696447" cy="2317452"/>
          </a:xfrm>
          <a:prstGeom prst="rect">
            <a:avLst/>
          </a:prstGeom>
        </p:spPr>
      </p:pic>
      <p:sp>
        <p:nvSpPr>
          <p:cNvPr id="30" name="Rectangle 29"/>
          <p:cNvSpPr/>
          <p:nvPr/>
        </p:nvSpPr>
        <p:spPr>
          <a:xfrm>
            <a:off x="320040" y="3365440"/>
            <a:ext cx="5486400" cy="36576"/>
          </a:xfrm>
          <a:prstGeom prst="rect">
            <a:avLst/>
          </a:prstGeom>
          <a:solidFill>
            <a:srgbClr val="086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2" name="Picture 31" descr="Screenshot_2026-04-24_at_12_31_30_A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11659" y="3368277"/>
            <a:ext cx="6153785" cy="3028053"/>
          </a:xfrm>
          <a:prstGeom prst="rect">
            <a:avLst/>
          </a:prstGeom>
        </p:spPr>
      </p:pic>
      <p:sp>
        <p:nvSpPr>
          <p:cNvPr id="34" name="Rectangle 33"/>
          <p:cNvSpPr/>
          <p:nvPr/>
        </p:nvSpPr>
        <p:spPr>
          <a:xfrm>
            <a:off x="7812312" y="6205603"/>
            <a:ext cx="2881534" cy="371181"/>
          </a:xfrm>
          <a:prstGeom prst="rect">
            <a:avLst/>
          </a:prstGeom>
          <a:solidFill>
            <a:srgbClr val="157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084552" y="6257182"/>
            <a:ext cx="302805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 dirty="0">
                <a:solidFill>
                  <a:srgbClr val="FFFFFF"/>
                </a:solidFill>
                <a:latin typeface="Calibri"/>
              </a:rPr>
              <a:t>✅  Green dot = container </a:t>
            </a:r>
            <a:r>
              <a:rPr lang="en-US" sz="1100" b="1" i="0" dirty="0">
                <a:solidFill>
                  <a:srgbClr val="FFFFFF"/>
                </a:solidFill>
                <a:latin typeface="Calibri"/>
              </a:rPr>
              <a:t>is </a:t>
            </a:r>
            <a:r>
              <a:rPr sz="1100" b="1" i="0" dirty="0">
                <a:solidFill>
                  <a:srgbClr val="FFFFFF"/>
                </a:solidFill>
                <a:latin typeface="Calibri"/>
              </a:rPr>
              <a:t>running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7EAF2DE5-1034-DD3B-BF98-5CAF32FC177F}"/>
              </a:ext>
            </a:extLst>
          </p:cNvPr>
          <p:cNvSpPr/>
          <p:nvPr/>
        </p:nvSpPr>
        <p:spPr>
          <a:xfrm>
            <a:off x="1600200" y="3594143"/>
            <a:ext cx="2219241" cy="292608"/>
          </a:xfrm>
          <a:prstGeom prst="rect">
            <a:avLst/>
          </a:prstGeom>
          <a:solidFill>
            <a:srgbClr val="086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874520" y="3628150"/>
            <a:ext cx="36576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 dirty="0" err="1">
                <a:solidFill>
                  <a:schemeClr val="bg1"/>
                </a:solidFill>
                <a:latin typeface="Calibri"/>
              </a:rPr>
              <a:t>docker.com</a:t>
            </a:r>
            <a:r>
              <a:rPr sz="1000" b="0" i="1" dirty="0">
                <a:solidFill>
                  <a:schemeClr val="bg1"/>
                </a:solidFill>
                <a:latin typeface="Calibri"/>
              </a:rPr>
              <a:t> download page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7F3524A4-074C-5E22-31EA-B0FDFC843EF3}"/>
              </a:ext>
            </a:extLst>
          </p:cNvPr>
          <p:cNvSpPr/>
          <p:nvPr/>
        </p:nvSpPr>
        <p:spPr>
          <a:xfrm>
            <a:off x="6988158" y="5483598"/>
            <a:ext cx="5077286" cy="230655"/>
          </a:xfrm>
          <a:prstGeom prst="rect">
            <a:avLst/>
          </a:prstGeom>
          <a:noFill/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8C1A6756-A99E-6C83-36FA-1A7F41F74F03}"/>
                  </a:ext>
                </a:extLst>
              </p14:cNvPr>
              <p14:cNvContentPartPr/>
              <p14:nvPr/>
            </p14:nvContentPartPr>
            <p14:xfrm rot="2730002">
              <a:off x="7481712" y="5989456"/>
              <a:ext cx="785618" cy="360"/>
            </p14:xfrm>
          </p:contentPart>
        </mc:Choice>
        <mc:Fallback xmlns=""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8C1A6756-A99E-6C83-36FA-1A7F41F74F03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 rot="2730002">
                <a:off x="7472715" y="5980456"/>
                <a:ext cx="803252" cy="18000"/>
              </a:xfrm>
              <a:prstGeom prst="rect">
                <a:avLst/>
              </a:prstGeom>
            </p:spPr>
          </p:pic>
        </mc:Fallback>
      </mc:AlternateContent>
      <p:sp>
        <p:nvSpPr>
          <p:cNvPr id="39" name="Rectangle 38">
            <a:extLst>
              <a:ext uri="{FF2B5EF4-FFF2-40B4-BE49-F238E27FC236}">
                <a16:creationId xmlns:a16="http://schemas.microsoft.com/office/drawing/2014/main" id="{1B2B2E3A-0153-9C93-23C4-8C1E808FA9F2}"/>
              </a:ext>
            </a:extLst>
          </p:cNvPr>
          <p:cNvSpPr/>
          <p:nvPr/>
        </p:nvSpPr>
        <p:spPr>
          <a:xfrm>
            <a:off x="411479" y="4351466"/>
            <a:ext cx="4933672" cy="416696"/>
          </a:xfrm>
          <a:prstGeom prst="rect">
            <a:avLst/>
          </a:prstGeom>
          <a:noFill/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496CBD64-BFA9-3CB3-E282-7D0A5AA670A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19696" y="5144089"/>
            <a:ext cx="2373351" cy="158223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57200" y="182880"/>
            <a:ext cx="1005840" cy="457200"/>
          </a:xfrm>
          <a:prstGeom prst="rect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265176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STEP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201168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 dirty="0">
                <a:solidFill>
                  <a:srgbClr val="1A1A2E"/>
                </a:solidFill>
                <a:latin typeface="Calibri"/>
              </a:rPr>
              <a:t>Run Oracle XE Database via Docker Terminal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822960"/>
            <a:ext cx="11430000" cy="192024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65760" y="822960"/>
            <a:ext cx="11430000" cy="347472"/>
          </a:xfrm>
          <a:prstGeom prst="rect">
            <a:avLst/>
          </a:prstGeom>
          <a:solidFill>
            <a:srgbClr val="383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841248"/>
            <a:ext cx="73152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  <a:latin typeface="Calibri"/>
              </a:rPr>
              <a:t>● ● ●   Terminal — killerzone@KillerZones-MacBook-Air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234440"/>
            <a:ext cx="417279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50FA7B"/>
                </a:solidFill>
                <a:latin typeface="Calibri"/>
              </a:rPr>
              <a:t>docker run -d </a:t>
            </a:r>
            <a:endParaRPr lang="en-US" sz="1200" b="0" i="0" dirty="0">
              <a:solidFill>
                <a:srgbClr val="50FA7B"/>
              </a:solidFill>
              <a:latin typeface="Calibri"/>
            </a:endParaRPr>
          </a:p>
          <a:p>
            <a:pPr algn="l"/>
            <a:r>
              <a:rPr lang="en-US" sz="1200" b="0" i="0" dirty="0">
                <a:solidFill>
                  <a:srgbClr val="50FA7B"/>
                </a:solidFill>
                <a:latin typeface="Calibri"/>
              </a:rPr>
              <a:t>--platform </a:t>
            </a:r>
            <a:r>
              <a:rPr lang="en-US" sz="1200" b="0" i="0" dirty="0" err="1">
                <a:solidFill>
                  <a:srgbClr val="50FA7B"/>
                </a:solidFill>
                <a:latin typeface="Calibri"/>
              </a:rPr>
              <a:t>linux</a:t>
            </a:r>
            <a:r>
              <a:rPr lang="en-US" sz="1200" b="0" i="0" dirty="0">
                <a:solidFill>
                  <a:srgbClr val="50FA7B"/>
                </a:solidFill>
                <a:latin typeface="Calibri"/>
              </a:rPr>
              <a:t>/amd64 -p 1521:1521 \
  -e ORACLE_PWD=Oracle123  -e ORACLE_SID=</a:t>
            </a:r>
            <a:r>
              <a:rPr lang="en-US" sz="1200" b="0" i="0" dirty="0" err="1">
                <a:solidFill>
                  <a:srgbClr val="50FA7B"/>
                </a:solidFill>
                <a:latin typeface="Calibri"/>
              </a:rPr>
              <a:t>ord</a:t>
            </a:r>
            <a:r>
              <a:rPr lang="en-US" sz="1200" b="0" i="0" dirty="0">
                <a:solidFill>
                  <a:srgbClr val="50FA7B"/>
                </a:solidFill>
                <a:latin typeface="Calibri"/>
              </a:rPr>
              <a:t> \
  --name </a:t>
            </a:r>
            <a:r>
              <a:rPr lang="en-US" sz="1200" b="0" i="0" dirty="0" err="1">
                <a:solidFill>
                  <a:srgbClr val="50FA7B"/>
                </a:solidFill>
                <a:latin typeface="Calibri"/>
              </a:rPr>
              <a:t>oracleXE</a:t>
            </a:r>
            <a:r>
              <a:rPr lang="en-US" sz="1200" b="0" i="0" dirty="0">
                <a:solidFill>
                  <a:srgbClr val="50FA7B"/>
                </a:solidFill>
                <a:latin typeface="Calibri"/>
              </a:rPr>
              <a:t>  </a:t>
            </a:r>
            <a:r>
              <a:rPr lang="en-US" sz="1200" b="0" i="0" dirty="0" err="1">
                <a:solidFill>
                  <a:srgbClr val="50FA7B"/>
                </a:solidFill>
                <a:latin typeface="Calibri"/>
              </a:rPr>
              <a:t>gvenzl</a:t>
            </a:r>
            <a:r>
              <a:rPr lang="en-US" sz="1200" b="0" i="0" dirty="0">
                <a:solidFill>
                  <a:srgbClr val="50FA7B"/>
                </a:solidFill>
                <a:latin typeface="Calibri"/>
              </a:rPr>
              <a:t>/oracle-xe:21-slim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8803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86AA8"/>
                </a:solidFill>
                <a:latin typeface="Calibri"/>
              </a:rPr>
              <a:t>Terminal Steps: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3337560"/>
            <a:ext cx="384048" cy="384048"/>
          </a:xfrm>
          <a:prstGeom prst="rect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5760" y="333756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374136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Open Terminal  (Cmd + Space → type Terminal → Enter)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959352"/>
            <a:ext cx="384048" cy="384048"/>
          </a:xfrm>
          <a:prstGeom prst="rect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65760" y="3959352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3995928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Copy &amp; paste the full command above → press Enter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4581144"/>
            <a:ext cx="384048" cy="384048"/>
          </a:xfrm>
          <a:prstGeom prst="rect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65760" y="4581144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461772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Run:  docker logs -f oracleXE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5202936"/>
            <a:ext cx="384048" cy="384048"/>
          </a:xfrm>
          <a:prstGeom prst="rect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65760" y="5202936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5239512"/>
            <a:ext cx="50292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1A1A2E"/>
                </a:solidFill>
                <a:latin typeface="Calibri"/>
              </a:rPr>
              <a:t>Wait for  "DATABASE IS READY TO USE"  message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5824728"/>
            <a:ext cx="384048" cy="384048"/>
          </a:xfrm>
          <a:prstGeom prst="rect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65760" y="5824728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5861304"/>
            <a:ext cx="377509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Press Ctrl+C to stop viewing logs</a:t>
            </a:r>
          </a:p>
        </p:txBody>
      </p:sp>
      <p:pic>
        <p:nvPicPr>
          <p:cNvPr id="27" name="Picture 26" descr="Screenshot_2026-04-24_at_12_25_30_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2834640"/>
            <a:ext cx="5852160" cy="3840480"/>
          </a:xfrm>
          <a:prstGeom prst="rect">
            <a:avLst/>
          </a:prstGeom>
        </p:spPr>
      </p:pic>
      <p:sp>
        <p:nvSpPr>
          <p:cNvPr id="29" name="Rectangle 28"/>
          <p:cNvSpPr/>
          <p:nvPr/>
        </p:nvSpPr>
        <p:spPr>
          <a:xfrm>
            <a:off x="8476488" y="2920514"/>
            <a:ext cx="2926080" cy="347472"/>
          </a:xfrm>
          <a:prstGeom prst="rect">
            <a:avLst/>
          </a:prstGeom>
          <a:solidFill>
            <a:srgbClr val="157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869680" y="2958084"/>
            <a:ext cx="283464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 dirty="0">
                <a:solidFill>
                  <a:srgbClr val="FFFFFF"/>
                </a:solidFill>
                <a:latin typeface="Calibri"/>
              </a:rPr>
              <a:t>✅  DATABASE IS READY TO USE</a:t>
            </a:r>
            <a:r>
              <a:rPr lang="en-US" sz="1100" b="1" i="0" dirty="0">
                <a:solidFill>
                  <a:srgbClr val="FFFFFF"/>
                </a:solidFill>
                <a:latin typeface="Calibri"/>
              </a:rPr>
              <a:t> </a:t>
            </a:r>
            <a:r>
              <a:rPr lang="en-SA" sz="1100" b="1" i="0" dirty="0">
                <a:solidFill>
                  <a:srgbClr val="FFFFFF"/>
                </a:solidFill>
                <a:latin typeface="Calibri"/>
              </a:rPr>
              <a:t>!</a:t>
            </a:r>
            <a:endParaRPr sz="11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71DE8E3E-137F-AE1C-9A70-F0069D7B2615}"/>
              </a:ext>
            </a:extLst>
          </p:cNvPr>
          <p:cNvSpPr/>
          <p:nvPr/>
        </p:nvSpPr>
        <p:spPr>
          <a:xfrm>
            <a:off x="502920" y="1251226"/>
            <a:ext cx="4265573" cy="878219"/>
          </a:xfrm>
          <a:prstGeom prst="rect">
            <a:avLst/>
          </a:prstGeom>
          <a:noFill/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711FFAAF-0F97-4A76-769F-971F5F45AE82}"/>
                  </a:ext>
                </a:extLst>
              </p14:cNvPr>
              <p14:cNvContentPartPr/>
              <p14:nvPr/>
            </p14:nvContentPartPr>
            <p14:xfrm>
              <a:off x="4768492" y="1705623"/>
              <a:ext cx="2287676" cy="360"/>
            </p14:xfrm>
          </p:contentPart>
        </mc:Choice>
        <mc:Fallback xmlns=""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711FFAAF-0F97-4A76-769F-971F5F45AE8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759492" y="1696623"/>
                <a:ext cx="2305315" cy="18000"/>
              </a:xfrm>
              <a:prstGeom prst="rect">
                <a:avLst/>
              </a:prstGeom>
            </p:spPr>
          </p:pic>
        </mc:Fallback>
      </mc:AlternateContent>
      <p:sp>
        <p:nvSpPr>
          <p:cNvPr id="34" name="TextBox 33">
            <a:extLst>
              <a:ext uri="{FF2B5EF4-FFF2-40B4-BE49-F238E27FC236}">
                <a16:creationId xmlns:a16="http://schemas.microsoft.com/office/drawing/2014/main" id="{548CF6D4-A67B-A295-282D-19629CBC0587}"/>
              </a:ext>
            </a:extLst>
          </p:cNvPr>
          <p:cNvSpPr txBox="1"/>
          <p:nvPr/>
        </p:nvSpPr>
        <p:spPr>
          <a:xfrm>
            <a:off x="4768492" y="1725990"/>
            <a:ext cx="2380453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</a:rPr>
              <a:t>Run this command in your Terminal to access the oracle database XE (Express Edition) locally.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1DDBD471-2112-B27F-06FF-F6AD325D52AB}"/>
                  </a:ext>
                </a:extLst>
              </p14:cNvPr>
              <p14:cNvContentPartPr/>
              <p14:nvPr/>
            </p14:nvContentPartPr>
            <p14:xfrm>
              <a:off x="3233980" y="6120326"/>
              <a:ext cx="2631963" cy="360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1DDBD471-2112-B27F-06FF-F6AD325D52AB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224980" y="6111326"/>
                <a:ext cx="2649603" cy="18000"/>
              </a:xfrm>
              <a:prstGeom prst="rect">
                <a:avLst/>
              </a:prstGeom>
            </p:spPr>
          </p:pic>
        </mc:Fallback>
      </mc:AlternateContent>
      <p:sp>
        <p:nvSpPr>
          <p:cNvPr id="38" name="Rectangle 37">
            <a:extLst>
              <a:ext uri="{FF2B5EF4-FFF2-40B4-BE49-F238E27FC236}">
                <a16:creationId xmlns:a16="http://schemas.microsoft.com/office/drawing/2014/main" id="{D55DF350-2828-C978-03A8-1EDF27E70BFF}"/>
              </a:ext>
            </a:extLst>
          </p:cNvPr>
          <p:cNvSpPr/>
          <p:nvPr/>
        </p:nvSpPr>
        <p:spPr>
          <a:xfrm>
            <a:off x="5852160" y="6035040"/>
            <a:ext cx="4265573" cy="170572"/>
          </a:xfrm>
          <a:prstGeom prst="rect">
            <a:avLst/>
          </a:prstGeom>
          <a:noFill/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7614738-BD8A-4842-7458-EC7A577992AF}"/>
              </a:ext>
            </a:extLst>
          </p:cNvPr>
          <p:cNvSpPr txBox="1"/>
          <p:nvPr/>
        </p:nvSpPr>
        <p:spPr>
          <a:xfrm>
            <a:off x="3149601" y="6191149"/>
            <a:ext cx="2716342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Your Pluggable database (ORD) has been opened in READ WRITE mode and is now operational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57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57200" y="182880"/>
            <a:ext cx="1005840" cy="457200"/>
          </a:xfrm>
          <a:prstGeom prst="rect">
            <a:avLst/>
          </a:prstGeom>
          <a:solidFill>
            <a:srgbClr val="157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38785" y="246888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STEP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201168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A1A2E"/>
                </a:solidFill>
                <a:latin typeface="Calibri"/>
              </a:rPr>
              <a:t>Connect SQL Developer to Oracle Database</a:t>
            </a:r>
          </a:p>
        </p:txBody>
      </p:sp>
      <p:pic>
        <p:nvPicPr>
          <p:cNvPr id="7" name="Picture 6" descr="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6954" y="1046878"/>
            <a:ext cx="6583680" cy="530352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365760" y="777240"/>
            <a:ext cx="6583680" cy="36576"/>
          </a:xfrm>
          <a:prstGeom prst="rect">
            <a:avLst/>
          </a:prstGeom>
          <a:solidFill>
            <a:srgbClr val="157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601994" y="4661370"/>
            <a:ext cx="2133600" cy="26161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419677" y="4661370"/>
            <a:ext cx="283464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100" b="1" dirty="0">
                <a:solidFill>
                  <a:srgbClr val="FFFFFF"/>
                </a:solidFill>
                <a:latin typeface="Calibri"/>
              </a:rPr>
              <a:t>         </a:t>
            </a:r>
            <a:r>
              <a:rPr sz="1100" b="1" i="0" dirty="0">
                <a:solidFill>
                  <a:srgbClr val="FFFFFF"/>
                </a:solidFill>
                <a:latin typeface="Calibri"/>
              </a:rPr>
              <a:t>Select 'Service name', type: </a:t>
            </a:r>
            <a:r>
              <a:rPr sz="1100" b="1" i="0" dirty="0" err="1">
                <a:solidFill>
                  <a:srgbClr val="FFFFFF"/>
                </a:solidFill>
                <a:latin typeface="Calibri"/>
              </a:rPr>
              <a:t>ord</a:t>
            </a:r>
            <a:endParaRPr sz="11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223760" y="777240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86AA8"/>
                </a:solidFill>
                <a:latin typeface="Calibri"/>
              </a:rPr>
              <a:t>Fill in exactly these settings: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223760" y="1298448"/>
            <a:ext cx="1691640" cy="512064"/>
          </a:xfrm>
          <a:prstGeom prst="rect">
            <a:avLst/>
          </a:prstGeom>
          <a:solidFill>
            <a:srgbClr val="F2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961120" y="1298448"/>
            <a:ext cx="2743200" cy="5120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961120" y="1298448"/>
            <a:ext cx="2743200" cy="512064"/>
          </a:xfrm>
          <a:prstGeom prst="rect">
            <a:avLst/>
          </a:prstGeom>
          <a:solidFill>
            <a:srgbClr val="F2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269480" y="1389888"/>
            <a:ext cx="1600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45570"/>
                </a:solidFill>
                <a:latin typeface="Calibri"/>
              </a:rPr>
              <a:t>Name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34272" y="1389888"/>
            <a:ext cx="2606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my_database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223760" y="2048255"/>
            <a:ext cx="1691640" cy="512064"/>
          </a:xfrm>
          <a:prstGeom prst="rect">
            <a:avLst/>
          </a:prstGeom>
          <a:solidFill>
            <a:srgbClr val="F2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961120" y="2048255"/>
            <a:ext cx="2743200" cy="5120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961120" y="2048255"/>
            <a:ext cx="2743200" cy="512064"/>
          </a:xfrm>
          <a:prstGeom prst="rect">
            <a:avLst/>
          </a:prstGeom>
          <a:solidFill>
            <a:srgbClr val="F2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269480" y="2139696"/>
            <a:ext cx="1600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45570"/>
                </a:solidFill>
                <a:latin typeface="Calibri"/>
              </a:rPr>
              <a:t>Username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34272" y="2139696"/>
            <a:ext cx="2606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sys as sysdba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23760" y="2798063"/>
            <a:ext cx="1691640" cy="512064"/>
          </a:xfrm>
          <a:prstGeom prst="rect">
            <a:avLst/>
          </a:prstGeom>
          <a:solidFill>
            <a:srgbClr val="F2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961120" y="2798063"/>
            <a:ext cx="2743200" cy="5120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8961120" y="2798063"/>
            <a:ext cx="2743200" cy="512064"/>
          </a:xfrm>
          <a:prstGeom prst="rect">
            <a:avLst/>
          </a:prstGeom>
          <a:solidFill>
            <a:srgbClr val="F2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269480" y="2889503"/>
            <a:ext cx="1600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45570"/>
                </a:solidFill>
                <a:latin typeface="Calibri"/>
              </a:rPr>
              <a:t>Password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34272" y="2889503"/>
            <a:ext cx="2606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Oracle123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223760" y="3547872"/>
            <a:ext cx="1691640" cy="512064"/>
          </a:xfrm>
          <a:prstGeom prst="rect">
            <a:avLst/>
          </a:prstGeom>
          <a:solidFill>
            <a:srgbClr val="F2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8961120" y="3547872"/>
            <a:ext cx="2743200" cy="5120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8961120" y="3547872"/>
            <a:ext cx="2743200" cy="512064"/>
          </a:xfrm>
          <a:prstGeom prst="rect">
            <a:avLst/>
          </a:prstGeom>
          <a:solidFill>
            <a:srgbClr val="F2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269480" y="3639312"/>
            <a:ext cx="1600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45570"/>
                </a:solidFill>
                <a:latin typeface="Calibri"/>
              </a:rPr>
              <a:t>Hostname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34272" y="3639312"/>
            <a:ext cx="2606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localhost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223760" y="4297679"/>
            <a:ext cx="1691640" cy="512064"/>
          </a:xfrm>
          <a:prstGeom prst="rect">
            <a:avLst/>
          </a:prstGeom>
          <a:solidFill>
            <a:srgbClr val="F2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8961120" y="4297679"/>
            <a:ext cx="2743200" cy="5120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8961120" y="4297679"/>
            <a:ext cx="2743200" cy="512064"/>
          </a:xfrm>
          <a:prstGeom prst="rect">
            <a:avLst/>
          </a:prstGeom>
          <a:solidFill>
            <a:srgbClr val="F2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269480" y="4389119"/>
            <a:ext cx="1600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45570"/>
                </a:solidFill>
                <a:latin typeface="Calibri"/>
              </a:rPr>
              <a:t>Port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34272" y="4389119"/>
            <a:ext cx="2606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1521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223760" y="5047488"/>
            <a:ext cx="1691640" cy="512064"/>
          </a:xfrm>
          <a:prstGeom prst="rect">
            <a:avLst/>
          </a:prstGeom>
          <a:solidFill>
            <a:srgbClr val="F2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8961120" y="5047488"/>
            <a:ext cx="2743200" cy="5120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8961120" y="5047488"/>
            <a:ext cx="2743200" cy="512064"/>
          </a:xfrm>
          <a:prstGeom prst="rect">
            <a:avLst/>
          </a:prstGeom>
          <a:solidFill>
            <a:srgbClr val="F2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269480" y="5138927"/>
            <a:ext cx="1600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45570"/>
                </a:solidFill>
                <a:latin typeface="Calibri"/>
              </a:rPr>
              <a:t>Service name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034272" y="5138927"/>
            <a:ext cx="26060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200" b="1" i="0" dirty="0">
                <a:solidFill>
                  <a:srgbClr val="C0392B"/>
                </a:solidFill>
                <a:latin typeface="Calibri"/>
              </a:rPr>
              <a:t>O</a:t>
            </a:r>
            <a:r>
              <a:rPr sz="1200" b="1" i="0" dirty="0">
                <a:solidFill>
                  <a:srgbClr val="C0392B"/>
                </a:solidFill>
                <a:latin typeface="Calibri"/>
              </a:rPr>
              <a:t>rd</a:t>
            </a:r>
            <a:r>
              <a:rPr lang="en-US" sz="1200" b="1" i="0" dirty="0">
                <a:solidFill>
                  <a:srgbClr val="C0392B"/>
                </a:solidFill>
                <a:latin typeface="Calibri"/>
              </a:rPr>
              <a:t>                           &lt; </a:t>
            </a:r>
            <a:r>
              <a:rPr lang="en-US" sz="1200" b="1" dirty="0">
                <a:solidFill>
                  <a:srgbClr val="C0392B"/>
                </a:solidFill>
                <a:latin typeface="Calibri"/>
              </a:rPr>
              <a:t>Important&gt;</a:t>
            </a:r>
            <a:endParaRPr sz="1200" b="1" i="0" dirty="0">
              <a:solidFill>
                <a:srgbClr val="C0392B"/>
              </a:solidFill>
              <a:latin typeface="Calibri"/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7251065" y="5847478"/>
            <a:ext cx="4572000" cy="502920"/>
          </a:xfrm>
          <a:prstGeom prst="rect">
            <a:avLst/>
          </a:prstGeom>
          <a:solidFill>
            <a:srgbClr val="157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7121236" y="5952744"/>
            <a:ext cx="438912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3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sz="1300" b="1" i="0" dirty="0">
                <a:solidFill>
                  <a:srgbClr val="FFFFFF"/>
                </a:solidFill>
                <a:latin typeface="Calibri"/>
              </a:rPr>
              <a:t>  </a:t>
            </a:r>
            <a:r>
              <a:rPr lang="en-US" sz="1300" b="1" i="0" dirty="0">
                <a:solidFill>
                  <a:srgbClr val="FFFFFF"/>
                </a:solidFill>
                <a:latin typeface="Calibri"/>
              </a:rPr>
              <a:t>                    </a:t>
            </a:r>
            <a:r>
              <a:rPr sz="1300" b="1" i="0" dirty="0">
                <a:solidFill>
                  <a:srgbClr val="FFFFFF"/>
                </a:solidFill>
                <a:latin typeface="Calibri"/>
              </a:rPr>
              <a:t>Status: Success → </a:t>
            </a:r>
            <a:r>
              <a:rPr lang="en-US" sz="1300" b="1" i="0" dirty="0">
                <a:solidFill>
                  <a:srgbClr val="FFFFFF"/>
                </a:solidFill>
                <a:latin typeface="Calibri"/>
              </a:rPr>
              <a:t>Test &amp; Then </a:t>
            </a:r>
            <a:r>
              <a:rPr sz="1300" b="1" i="0" dirty="0">
                <a:solidFill>
                  <a:srgbClr val="FFFFFF"/>
                </a:solidFill>
                <a:latin typeface="Calibri"/>
              </a:rPr>
              <a:t>Click Connect</a:t>
            </a:r>
            <a:r>
              <a:rPr lang="en-US" sz="1300" b="1" i="0" dirty="0">
                <a:solidFill>
                  <a:srgbClr val="FFFFFF"/>
                </a:solidFill>
                <a:latin typeface="Calibri"/>
              </a:rPr>
              <a:t>.</a:t>
            </a:r>
            <a:endParaRPr sz="13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0F1C0E5B-4578-D5F5-9607-2EE69982C6F6}"/>
              </a:ext>
            </a:extLst>
          </p:cNvPr>
          <p:cNvSpPr/>
          <p:nvPr/>
        </p:nvSpPr>
        <p:spPr>
          <a:xfrm>
            <a:off x="2473555" y="4234086"/>
            <a:ext cx="2711139" cy="168988"/>
          </a:xfrm>
          <a:prstGeom prst="rect">
            <a:avLst/>
          </a:prstGeom>
          <a:noFill/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B4999DA4-2D5D-F687-121C-5D8022205B77}"/>
                  </a:ext>
                </a:extLst>
              </p14:cNvPr>
              <p14:cNvContentPartPr/>
              <p14:nvPr/>
            </p14:nvContentPartPr>
            <p14:xfrm rot="3905794">
              <a:off x="3464747" y="4533729"/>
              <a:ext cx="291203" cy="360"/>
            </p14:xfrm>
          </p:contentPart>
        </mc:Choice>
        <mc:Fallback xmlns=""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B4999DA4-2D5D-F687-121C-5D8022205B7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 rot="3905794">
                <a:off x="3455759" y="4524729"/>
                <a:ext cx="308819" cy="180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57200" y="182880"/>
            <a:ext cx="1005840" cy="4572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38785" y="265176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STEP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201168"/>
            <a:ext cx="9144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 dirty="0">
                <a:solidFill>
                  <a:srgbClr val="1A1A2E"/>
                </a:solidFill>
                <a:latin typeface="Calibri"/>
              </a:rPr>
              <a:t>Run SQL Queries </a:t>
            </a:r>
            <a:r>
              <a:rPr lang="en-US" sz="2400" b="1" dirty="0">
                <a:solidFill>
                  <a:srgbClr val="1A1A2E"/>
                </a:solidFill>
                <a:latin typeface="Calibri"/>
              </a:rPr>
              <a:t>, </a:t>
            </a:r>
            <a:r>
              <a:rPr sz="2400" b="1" i="0" dirty="0">
                <a:solidFill>
                  <a:srgbClr val="1A1A2E"/>
                </a:solidFill>
                <a:latin typeface="Calibri"/>
              </a:rPr>
              <a:t>Create Tables &amp; Insert Data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777240"/>
            <a:ext cx="7772400" cy="3657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366760" y="822960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86AA8"/>
                </a:solidFill>
                <a:latin typeface="Calibri"/>
              </a:rPr>
              <a:t>Key SQL Commands:</a:t>
            </a:r>
          </a:p>
        </p:txBody>
      </p:sp>
      <p:sp>
        <p:nvSpPr>
          <p:cNvPr id="10" name="Rectangle 9"/>
          <p:cNvSpPr/>
          <p:nvPr/>
        </p:nvSpPr>
        <p:spPr>
          <a:xfrm>
            <a:off x="8366760" y="1325880"/>
            <a:ext cx="3657600" cy="914400"/>
          </a:xfrm>
          <a:prstGeom prst="rect">
            <a:avLst/>
          </a:prstGeom>
          <a:solidFill>
            <a:srgbClr val="F2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366760" y="1325880"/>
            <a:ext cx="1371600" cy="9144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412480" y="1581912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CREATE TABLE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02368" y="1463039"/>
            <a:ext cx="2148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Calibri"/>
              </a:rPr>
              <a:t>Define table structure
with columns &amp; primary key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366760" y="2377439"/>
            <a:ext cx="3657600" cy="914400"/>
          </a:xfrm>
          <a:prstGeom prst="rect">
            <a:avLst/>
          </a:prstGeom>
          <a:solidFill>
            <a:srgbClr val="F2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366760" y="2377439"/>
            <a:ext cx="1371600" cy="914400"/>
          </a:xfrm>
          <a:prstGeom prst="rect">
            <a:avLst/>
          </a:prstGeom>
          <a:solidFill>
            <a:srgbClr val="086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412480" y="2633472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INSERT INTO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02368" y="2514599"/>
            <a:ext cx="2148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Calibri"/>
              </a:rPr>
              <a:t>Add employee records
with values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366760" y="3429000"/>
            <a:ext cx="3657600" cy="914400"/>
          </a:xfrm>
          <a:prstGeom prst="rect">
            <a:avLst/>
          </a:prstGeom>
          <a:solidFill>
            <a:srgbClr val="F2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366760" y="3429000"/>
            <a:ext cx="1371600" cy="914400"/>
          </a:xfrm>
          <a:prstGeom prst="rect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412480" y="3685032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COMMIT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02368" y="3566160"/>
            <a:ext cx="2148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Calibri"/>
              </a:rPr>
              <a:t>Permanently save all
changes to database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366760" y="4480559"/>
            <a:ext cx="3657600" cy="914400"/>
          </a:xfrm>
          <a:prstGeom prst="rect">
            <a:avLst/>
          </a:prstGeom>
          <a:solidFill>
            <a:srgbClr val="F2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366760" y="4480559"/>
            <a:ext cx="1371600" cy="914400"/>
          </a:xfrm>
          <a:prstGeom prst="rect">
            <a:avLst/>
          </a:prstGeom>
          <a:solidFill>
            <a:srgbClr val="157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412480" y="4736592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SELECT *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02368" y="4617720"/>
            <a:ext cx="2148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Calibri"/>
              </a:rPr>
              <a:t>Retrieve and display
all rows from table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366760" y="5532120"/>
            <a:ext cx="3657600" cy="914400"/>
          </a:xfrm>
          <a:prstGeom prst="rect">
            <a:avLst/>
          </a:prstGeom>
          <a:solidFill>
            <a:srgbClr val="F2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8366760" y="5532120"/>
            <a:ext cx="1371600" cy="914400"/>
          </a:xfrm>
          <a:prstGeom prst="rect">
            <a:avLst/>
          </a:prstGeom>
          <a:solidFill>
            <a:srgbClr val="4455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412480" y="5788152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DESC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02368" y="5669280"/>
            <a:ext cx="2148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Calibri"/>
              </a:rPr>
              <a:t>Show column names
and data types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66760" y="6446520"/>
            <a:ext cx="36576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1" dirty="0">
                <a:solidFill>
                  <a:srgbClr val="C0392B"/>
                </a:solidFill>
                <a:latin typeface="Calibri"/>
              </a:rPr>
              <a:t>Press F5 to run the full script at once</a:t>
            </a:r>
            <a:r>
              <a:rPr lang="en-US" sz="1200" b="1" i="1" dirty="0">
                <a:solidFill>
                  <a:srgbClr val="C0392B"/>
                </a:solidFill>
                <a:latin typeface="Calibri"/>
              </a:rPr>
              <a:t>.</a:t>
            </a:r>
            <a:endParaRPr sz="1200" b="1" i="1" dirty="0">
              <a:solidFill>
                <a:srgbClr val="C0392B"/>
              </a:solidFill>
              <a:latin typeface="Calibri"/>
            </a:endParaRPr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4A0E6B2C-387A-80E0-42B3-4D2C59C1B6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25880"/>
            <a:ext cx="7772400" cy="518001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194560"/>
            <a:ext cx="10698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Calibri"/>
              </a:rPr>
              <a:t>Part 2: Database Concepts &amp; SQL*Plus Queries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106984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0">
                <a:solidFill>
                  <a:srgbClr val="CADCFC"/>
                </a:solidFill>
                <a:latin typeface="Calibri"/>
              </a:rPr>
              <a:t>Definitions (DBA, SysAdmin, Data Administrator) and instance queries,</a:t>
            </a:r>
          </a:p>
          <a:p>
            <a:pPr algn="ctr"/>
            <a:r>
              <a:rPr sz="1800" b="0">
                <a:solidFill>
                  <a:srgbClr val="CADCFC"/>
                </a:solidFill>
                <a:latin typeface="Calibri"/>
              </a:rPr>
              <a:t>run on the Oracle XE container (oracleXE) set up in Steps 1 to 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320040"/>
            <a:ext cx="1005840" cy="36576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CONCEPT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00200" y="246888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A1A2E"/>
                </a:solidFill>
                <a:latin typeface="Calibri"/>
              </a:rPr>
              <a:t>What is a Database?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548640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1A1A2E"/>
                </a:solidFill>
                <a:latin typeface="Calibri"/>
              </a:rPr>
              <a:t>A database is a structured collection of related data, stored electronically so it can be added to, searched, updated and managed easily.</a:t>
            </a:r>
          </a:p>
          <a:p>
            <a:pPr algn="l"/>
            <a:r>
              <a:rPr sz="1600" b="0">
                <a:solidFill>
                  <a:srgbClr val="1A1A2E"/>
                </a:solidFill>
                <a:latin typeface="Calibri"/>
              </a:rPr>
              <a:t/>
            </a:r>
          </a:p>
          <a:p>
            <a:pPr algn="l"/>
            <a:r>
              <a:rPr sz="1600" b="0">
                <a:solidFill>
                  <a:srgbClr val="1A1A2E"/>
                </a:solidFill>
                <a:latin typeface="Calibri"/>
              </a:rPr>
              <a:t>Instead of scattering records across many separate files, everything lives in one organised place that many users and programs can share safely.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097280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C0392B"/>
                </a:solidFill>
                <a:latin typeface="Calibri"/>
              </a:rPr>
              <a:t>Example: a university STUDENTS table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0" y="1554480"/>
          <a:ext cx="530352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1325880"/>
                <a:gridCol w="1325880"/>
                <a:gridCol w="1325880"/>
              </a:tblGrid>
              <a:tr h="41148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Student ID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Name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Department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Marks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2E"/>
                          </a:solidFill>
                          <a:latin typeface="Calibri"/>
                        </a:rPr>
                        <a:t>101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2E"/>
                          </a:solidFill>
                          <a:latin typeface="Calibri"/>
                        </a:rPr>
                        <a:t>Ali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2E"/>
                          </a:solidFill>
                          <a:latin typeface="Calibri"/>
                        </a:rPr>
                        <a:t>CS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2E"/>
                          </a:solidFill>
                          <a:latin typeface="Calibri"/>
                        </a:rPr>
                        <a:t>85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2E"/>
                          </a:solidFill>
                          <a:latin typeface="Calibri"/>
                        </a:rPr>
                        <a:t>102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2E"/>
                          </a:solidFill>
                          <a:latin typeface="Calibri"/>
                        </a:rPr>
                        <a:t>Sara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2E"/>
                          </a:solidFill>
                          <a:latin typeface="Calibri"/>
                        </a:rPr>
                        <a:t>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2E"/>
                          </a:solidFill>
                          <a:latin typeface="Calibri"/>
                        </a:rPr>
                        <a:t>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2E"/>
                          </a:solidFill>
                          <a:latin typeface="Calibri"/>
                        </a:rPr>
                        <a:t>103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2E"/>
                          </a:solidFill>
                          <a:latin typeface="Calibri"/>
                        </a:rPr>
                        <a:t>John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2E"/>
                          </a:solidFill>
                          <a:latin typeface="Calibri"/>
                        </a:rPr>
                        <a:t>SE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2E"/>
                          </a:solidFill>
                          <a:latin typeface="Calibri"/>
                        </a:rPr>
                        <a:t>78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48640" y="3931920"/>
            <a:ext cx="11155680" cy="914400"/>
          </a:xfrm>
          <a:prstGeom prst="rect">
            <a:avLst/>
          </a:prstGeom>
          <a:solidFill>
            <a:srgbClr val="F2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0">
                <a:solidFill>
                  <a:srgbClr val="1A1A2E"/>
                </a:solidFill>
                <a:latin typeface="Calibri"/>
              </a:rPr>
              <a:t>In this assignment, the database is Oracle XE running inside Docker on macOS: container oracleXE, pluggable database ORD (Step 3).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320040"/>
            <a:ext cx="1005840" cy="36576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CONCEPT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00200" y="246888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A1A2E"/>
                </a:solidFill>
                <a:latin typeface="Calibri"/>
              </a:rPr>
              <a:t>What is Oracle Database XE (21c)?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566928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1A1A2E"/>
                </a:solidFill>
                <a:latin typeface="Calibri"/>
              </a:rPr>
              <a:t>Oracle Database is a relational database management system (RDBMS) made by Oracle Corporation. It stores, secures and retrieves large amounts of data for organisations.</a:t>
            </a:r>
          </a:p>
          <a:p>
            <a:pPr algn="l"/>
            <a:r>
              <a:rPr sz="1600" b="0">
                <a:solidFill>
                  <a:srgbClr val="1A1A2E"/>
                </a:solidFill>
                <a:latin typeface="Calibri"/>
              </a:rPr>
              <a:t/>
            </a:r>
          </a:p>
          <a:p>
            <a:pPr algn="l"/>
            <a:r>
              <a:rPr sz="1600" b="0">
                <a:solidFill>
                  <a:srgbClr val="1A1A2E"/>
                </a:solidFill>
                <a:latin typeface="Calibri"/>
              </a:rPr>
              <a:t>XE = Express Edition: the free edition of Oracle. 21c = release 21, c = cloud.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383280"/>
            <a:ext cx="5669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C0392B"/>
                </a:solidFill>
                <a:latin typeface="Calibri"/>
              </a:rPr>
              <a:t>A bank, for example, would keep: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3840480"/>
            <a:ext cx="384048" cy="384048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822192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Customer &amp; employee information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4343400"/>
            <a:ext cx="384048" cy="384048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4325112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Account details &amp; transactions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4846320"/>
            <a:ext cx="384048" cy="384048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4828032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Loan records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0" y="1097280"/>
            <a:ext cx="5120640" cy="237744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My setup (MacBook Air, Apple Silicon)</a:t>
            </a:r>
          </a:p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/>
            </a:r>
          </a:p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Oracle Database XE 21c in Docker</a:t>
            </a:r>
          </a:p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image: gvenzl/oracle-xe:21-slim</a:t>
            </a:r>
          </a:p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container: oracleXE · port 1521</a:t>
            </a:r>
          </a:p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pluggable database (PDB): ORD</a:t>
            </a:r>
          </a:p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client: Oracle SQL Developer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0" y="3749039"/>
            <a:ext cx="5120640" cy="1097280"/>
          </a:xfrm>
          <a:prstGeom prst="rect">
            <a:avLst/>
          </a:prstGeom>
          <a:solidFill>
            <a:srgbClr val="F2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A1A2E"/>
                </a:solidFill>
                <a:latin typeface="Calibri"/>
              </a:rPr>
              <a:t>Same SQL &amp; SQL*Plus commands as Oracle 19c Enterprise Edition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320040"/>
            <a:ext cx="1005840" cy="36576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CONCEPT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00200" y="246888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A1A2E"/>
                </a:solidFill>
                <a:latin typeface="Calibri"/>
              </a:rPr>
              <a:t>Database Administrator (DBA)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155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1A1A2E"/>
                </a:solidFill>
                <a:latin typeface="Calibri"/>
              </a:rPr>
              <a:t>A DBA is the person responsible for running an organisation’s database system, keeping its data secure, available, correctly managed and fast.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011680"/>
            <a:ext cx="2651760" cy="4572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Security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468880"/>
            <a:ext cx="2651760" cy="1280160"/>
          </a:xfrm>
          <a:prstGeom prst="rect">
            <a:avLst/>
          </a:prstGeom>
          <a:solidFill>
            <a:srgbClr val="F2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1A1A2E"/>
                </a:solidFill>
                <a:latin typeface="Calibri"/>
              </a:rPr>
              <a:t>Controls who can access data and what they may do</a:t>
            </a:r>
          </a:p>
        </p:txBody>
      </p:sp>
      <p:sp>
        <p:nvSpPr>
          <p:cNvPr id="7" name="Rectangle 6"/>
          <p:cNvSpPr/>
          <p:nvPr/>
        </p:nvSpPr>
        <p:spPr>
          <a:xfrm>
            <a:off x="3383280" y="2011680"/>
            <a:ext cx="2651760" cy="457200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Backup &amp; Recovery</a:t>
            </a:r>
          </a:p>
        </p:txBody>
      </p:sp>
      <p:sp>
        <p:nvSpPr>
          <p:cNvPr id="8" name="Rectangle 7"/>
          <p:cNvSpPr/>
          <p:nvPr/>
        </p:nvSpPr>
        <p:spPr>
          <a:xfrm>
            <a:off x="3383280" y="2468880"/>
            <a:ext cx="2651760" cy="1280160"/>
          </a:xfrm>
          <a:prstGeom prst="rect">
            <a:avLst/>
          </a:prstGeom>
          <a:solidFill>
            <a:srgbClr val="F2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1A1A2E"/>
                </a:solidFill>
                <a:latin typeface="Calibri"/>
              </a:rPr>
              <a:t>Keeps copies of data and restores it after loss or failure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2011680"/>
            <a:ext cx="2651760" cy="457200"/>
          </a:xfrm>
          <a:prstGeom prst="rect">
            <a:avLst/>
          </a:prstGeom>
          <a:solidFill>
            <a:srgbClr val="086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Performance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2468880"/>
            <a:ext cx="2651760" cy="1280160"/>
          </a:xfrm>
          <a:prstGeom prst="rect">
            <a:avLst/>
          </a:prstGeom>
          <a:solidFill>
            <a:srgbClr val="F2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1A1A2E"/>
                </a:solidFill>
                <a:latin typeface="Calibri"/>
              </a:rPr>
              <a:t>Watches speed and fixes slow queries or settings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052560" y="2011680"/>
            <a:ext cx="2651760" cy="457200"/>
          </a:xfrm>
          <a:prstGeom prst="rect">
            <a:avLst/>
          </a:prstGeom>
          <a:solidFill>
            <a:srgbClr val="157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Install &amp; Configure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052560" y="2468880"/>
            <a:ext cx="2651760" cy="1280160"/>
          </a:xfrm>
          <a:prstGeom prst="rect">
            <a:avLst/>
          </a:prstGeom>
          <a:solidFill>
            <a:srgbClr val="F2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1A1A2E"/>
                </a:solidFill>
                <a:latin typeface="Calibri"/>
              </a:rPr>
              <a:t>Installs the DBMS and sets it up for the organisation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4023360"/>
            <a:ext cx="2651760" cy="4572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Troubleshooting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4480560"/>
            <a:ext cx="2651760" cy="1280160"/>
          </a:xfrm>
          <a:prstGeom prst="rect">
            <a:avLst/>
          </a:prstGeom>
          <a:solidFill>
            <a:srgbClr val="F2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1A1A2E"/>
                </a:solidFill>
                <a:latin typeface="Calibri"/>
              </a:rPr>
              <a:t>Finds and solves database problems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83280" y="4023360"/>
            <a:ext cx="2651760" cy="457200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Storage Planning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83280" y="4480560"/>
            <a:ext cx="2651760" cy="1280160"/>
          </a:xfrm>
          <a:prstGeom prst="rect">
            <a:avLst/>
          </a:prstGeom>
          <a:solidFill>
            <a:srgbClr val="F2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1A1A2E"/>
                </a:solidFill>
                <a:latin typeface="Calibri"/>
              </a:rPr>
              <a:t>Makes sure there is room for future data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4023360"/>
            <a:ext cx="2651760" cy="457200"/>
          </a:xfrm>
          <a:prstGeom prst="rect">
            <a:avLst/>
          </a:prstGeom>
          <a:solidFill>
            <a:srgbClr val="086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High Availability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4480560"/>
            <a:ext cx="2651760" cy="1280160"/>
          </a:xfrm>
          <a:prstGeom prst="rect">
            <a:avLst/>
          </a:prstGeom>
          <a:solidFill>
            <a:srgbClr val="F2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1A1A2E"/>
                </a:solidFill>
                <a:latin typeface="Calibri"/>
              </a:rPr>
              <a:t>Keeps the database online with minimal downtime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320040"/>
            <a:ext cx="1005840" cy="36576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CONCEPT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00200" y="246888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A1A2E"/>
                </a:solidFill>
                <a:latin typeface="Calibri"/>
              </a:rPr>
              <a:t>What is a System Administrator?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512064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1A1A2E"/>
                </a:solidFill>
                <a:latin typeface="Calibri"/>
              </a:rPr>
              <a:t>A System Administrator (SysAdmin) looks after an organisation’s computers, servers, operating systems and networks.</a:t>
            </a:r>
          </a:p>
          <a:p>
            <a:pPr algn="l"/>
            <a:r>
              <a:rPr sz="1600" b="0">
                <a:solidFill>
                  <a:srgbClr val="1A1A2E"/>
                </a:solidFill>
                <a:latin typeface="Calibri"/>
              </a:rPr>
              <a:t/>
            </a:r>
          </a:p>
          <a:p>
            <a:pPr algn="l"/>
            <a:r>
              <a:rPr sz="1600" b="0">
                <a:solidFill>
                  <a:srgbClr val="1A1A2E"/>
                </a:solidFill>
                <a:latin typeface="Calibri"/>
              </a:rPr>
              <a:t>On my Mac setup, the SysAdmin side covers installing Docker Desktop and enabling Rosetta (Step 2).</a:t>
            </a:r>
          </a:p>
        </p:txBody>
      </p:sp>
      <p:sp>
        <p:nvSpPr>
          <p:cNvPr id="5" name="Rectangle 4"/>
          <p:cNvSpPr/>
          <p:nvPr/>
        </p:nvSpPr>
        <p:spPr>
          <a:xfrm>
            <a:off x="6035040" y="1051560"/>
            <a:ext cx="384048" cy="384048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79" y="1033271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Install operating systems &amp; software</a:t>
            </a:r>
          </a:p>
        </p:txBody>
      </p:sp>
      <p:sp>
        <p:nvSpPr>
          <p:cNvPr id="7" name="Rectangle 6"/>
          <p:cNvSpPr/>
          <p:nvPr/>
        </p:nvSpPr>
        <p:spPr>
          <a:xfrm>
            <a:off x="6035040" y="1655064"/>
            <a:ext cx="384048" cy="384048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79" y="1636776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Manage servers &amp; hardware</a:t>
            </a:r>
          </a:p>
        </p:txBody>
      </p:sp>
      <p:sp>
        <p:nvSpPr>
          <p:cNvPr id="9" name="Rectangle 8"/>
          <p:cNvSpPr/>
          <p:nvPr/>
        </p:nvSpPr>
        <p:spPr>
          <a:xfrm>
            <a:off x="6035040" y="2258568"/>
            <a:ext cx="384048" cy="384048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79" y="2240279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Create and manage system users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35040" y="2862072"/>
            <a:ext cx="384048" cy="384048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79" y="2843784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Configure networks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35040" y="3465576"/>
            <a:ext cx="384048" cy="384048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79" y="3447288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Monitor system performance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35040" y="4069080"/>
            <a:ext cx="384048" cy="384048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79" y="4050792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Manage system security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35040" y="4672583"/>
            <a:ext cx="384048" cy="384048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79" y="4654296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Troubleshoot system problems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320040"/>
            <a:ext cx="1005840" cy="36576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CONCEPT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00200" y="246888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A1A2E"/>
                </a:solidFill>
                <a:latin typeface="Calibri"/>
              </a:rPr>
              <a:t>DBA vs System Administrator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097280"/>
          <a:ext cx="1106424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32120"/>
                <a:gridCol w="5532120"/>
              </a:tblGrid>
              <a:tr h="64008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Database Administrator (DBA)</a:t>
                      </a:r>
                    </a:p>
                  </a:txBody>
                  <a:tcPr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System Administrator (SysAdmin)</a:t>
                      </a:r>
                    </a:p>
                  </a:txBody>
                  <a:tcPr>
                    <a:solidFill>
                      <a:srgbClr val="6F42C1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2E"/>
                          </a:solidFill>
                          <a:latin typeface="Calibri"/>
                        </a:rPr>
                        <a:t>Manages databases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2E"/>
                          </a:solidFill>
                          <a:latin typeface="Calibri"/>
                        </a:rPr>
                        <a:t>Manages computer systems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2E"/>
                          </a:solidFill>
                          <a:latin typeface="Calibri"/>
                        </a:rPr>
                        <a:t>Works with database software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2E"/>
                          </a:solidFill>
                          <a:latin typeface="Calibri"/>
                        </a:rPr>
                        <a:t>Works with operating systems &amp; servers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2E"/>
                          </a:solidFill>
                          <a:latin typeface="Calibri"/>
                        </a:rPr>
                        <a:t>Protects data &amp; DB security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2E"/>
                          </a:solidFill>
                          <a:latin typeface="Calibri"/>
                        </a:rPr>
                        <a:t>Protects OS &amp; system security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2E"/>
                          </a:solidFill>
                          <a:latin typeface="Calibri"/>
                        </a:rPr>
                        <a:t>Database backup &amp; recovery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2E"/>
                          </a:solidFill>
                          <a:latin typeface="Calibri"/>
                        </a:rPr>
                        <a:t>System / server backup &amp; recovery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2E"/>
                          </a:solidFill>
                          <a:latin typeface="Calibri"/>
                        </a:rPr>
                        <a:t>Monitors database performance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2E"/>
                          </a:solidFill>
                          <a:latin typeface="Calibri"/>
                        </a:rPr>
                        <a:t>Monitors system performance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2E"/>
                          </a:solidFill>
                          <a:latin typeface="Calibri"/>
                        </a:rPr>
                        <a:t>Example: Oracle XE 21c, SQL Developer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2E"/>
                          </a:solidFill>
                          <a:latin typeface="Calibri"/>
                        </a:rPr>
                        <a:t>Example: macOS, Docker Desktop, Linux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320040"/>
            <a:ext cx="1005840" cy="36576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CONCEPT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00200" y="246888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A1A2E"/>
                </a:solidFill>
                <a:latin typeface="Calibri"/>
              </a:rPr>
              <a:t>Data Administrator vs Database Administrator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5394960" cy="502920"/>
          </a:xfrm>
          <a:prstGeom prst="rect">
            <a:avLst/>
          </a:prstGeom>
          <a:solidFill>
            <a:srgbClr val="086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Data Administrator (DA): business side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53949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Decides how the organisation’s data is collected, organised, stored, protected and used.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468880"/>
            <a:ext cx="384048" cy="384048"/>
          </a:xfrm>
          <a:prstGeom prst="rect">
            <a:avLst/>
          </a:prstGeom>
          <a:solidFill>
            <a:srgbClr val="086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450592"/>
            <a:ext cx="4754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Calibri"/>
              </a:rPr>
              <a:t>Decides what data is needed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971800"/>
            <a:ext cx="384048" cy="384048"/>
          </a:xfrm>
          <a:prstGeom prst="rect">
            <a:avLst/>
          </a:prstGeom>
          <a:solidFill>
            <a:srgbClr val="086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953512"/>
            <a:ext cx="4754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Calibri"/>
              </a:rPr>
              <a:t>Sets data rules &amp; standards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474720"/>
            <a:ext cx="384048" cy="384048"/>
          </a:xfrm>
          <a:prstGeom prst="rect">
            <a:avLst/>
          </a:prstGeom>
          <a:solidFill>
            <a:srgbClr val="086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456432"/>
            <a:ext cx="4754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Calibri"/>
              </a:rPr>
              <a:t>Keeps data accurate &amp; consistent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977640"/>
            <a:ext cx="384048" cy="384048"/>
          </a:xfrm>
          <a:prstGeom prst="rect">
            <a:avLst/>
          </a:prstGeom>
          <a:solidFill>
            <a:srgbClr val="086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959352"/>
            <a:ext cx="4754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Calibri"/>
              </a:rPr>
              <a:t>Writes data policies &amp; procedures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4480560"/>
            <a:ext cx="384048" cy="384048"/>
          </a:xfrm>
          <a:prstGeom prst="rect">
            <a:avLst/>
          </a:prstGeom>
          <a:solidFill>
            <a:srgbClr val="086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4462272"/>
            <a:ext cx="4754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Calibri"/>
              </a:rPr>
              <a:t>Decides who may access which data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983480"/>
            <a:ext cx="384048" cy="384048"/>
          </a:xfrm>
          <a:prstGeom prst="rect">
            <a:avLst/>
          </a:prstGeom>
          <a:solidFill>
            <a:srgbClr val="086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4965192"/>
            <a:ext cx="4754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Calibri"/>
              </a:rPr>
              <a:t>Works with departments on their data needs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9360" y="1097280"/>
            <a:ext cx="5394960" cy="502920"/>
          </a:xfrm>
          <a:prstGeom prst="rect">
            <a:avLst/>
          </a:prstGeom>
          <a:solidFill>
            <a:srgbClr val="157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Database Administrator (DBA): technical side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1645920"/>
            <a:ext cx="53949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Handles the technical management and maintenance of the database itself.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09360" y="2468880"/>
            <a:ext cx="384048" cy="384048"/>
          </a:xfrm>
          <a:prstGeom prst="rect">
            <a:avLst/>
          </a:prstGeom>
          <a:solidFill>
            <a:srgbClr val="157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0" y="2450592"/>
            <a:ext cx="4754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Calibri"/>
              </a:rPr>
              <a:t>Installs &amp; configures Oracle XE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09360" y="2971800"/>
            <a:ext cx="384048" cy="384048"/>
          </a:xfrm>
          <a:prstGeom prst="rect">
            <a:avLst/>
          </a:prstGeom>
          <a:solidFill>
            <a:srgbClr val="157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2953512"/>
            <a:ext cx="4754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Calibri"/>
              </a:rPr>
              <a:t>Creates and manages databases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09360" y="3474720"/>
            <a:ext cx="384048" cy="384048"/>
          </a:xfrm>
          <a:prstGeom prst="rect">
            <a:avLst/>
          </a:prstGeom>
          <a:solidFill>
            <a:srgbClr val="157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3456432"/>
            <a:ext cx="4754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Calibri"/>
              </a:rPr>
              <a:t>Creates users &amp; grants permissions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09360" y="3977640"/>
            <a:ext cx="384048" cy="384048"/>
          </a:xfrm>
          <a:prstGeom prst="rect">
            <a:avLst/>
          </a:prstGeom>
          <a:solidFill>
            <a:srgbClr val="157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3959352"/>
            <a:ext cx="4754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Calibri"/>
              </a:rPr>
              <a:t>Performs backup &amp; recovery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09360" y="4480560"/>
            <a:ext cx="384048" cy="384048"/>
          </a:xfrm>
          <a:prstGeom prst="rect">
            <a:avLst/>
          </a:prstGeom>
          <a:solidFill>
            <a:srgbClr val="157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0" y="4462272"/>
            <a:ext cx="4754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Calibri"/>
              </a:rPr>
              <a:t>Monitors performance &amp; fixes problems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09360" y="4983480"/>
            <a:ext cx="384048" cy="384048"/>
          </a:xfrm>
          <a:prstGeom prst="rect">
            <a:avLst/>
          </a:prstGeom>
          <a:solidFill>
            <a:srgbClr val="157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0" y="4965192"/>
            <a:ext cx="4754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Calibri"/>
              </a:rPr>
              <a:t>Keeps the database available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320040"/>
            <a:ext cx="1005840" cy="36576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QUERY 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00200" y="246888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A1A2E"/>
                </a:solidFill>
                <a:latin typeface="Calibri"/>
              </a:rPr>
              <a:t>Connect to Oracle as SYSDBA (macOS Terminal)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5669280" cy="2331720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85800" y="1161288"/>
            <a:ext cx="137160" cy="137160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14400" y="1161288"/>
            <a:ext cx="137160" cy="137160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43000" y="1161288"/>
            <a:ext cx="137160" cy="137160"/>
          </a:xfrm>
          <a:prstGeom prst="ellipse">
            <a:avLst/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63040" y="1078992"/>
            <a:ext cx="4663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CCCCCC"/>
                </a:solidFill>
                <a:latin typeface="Calibri"/>
              </a:rPr>
              <a:t>Terminal — sqlplus (oracleXE)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417319"/>
            <a:ext cx="5394960" cy="18745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0FA7B"/>
                </a:solidFill>
                <a:latin typeface="Courier New"/>
              </a:rPr>
              <a:t>$ docker start oracleXE</a:t>
            </a:r>
          </a:p>
          <a:p>
            <a:pPr algn="l"/>
            <a:r>
              <a:rPr sz="1300" b="0">
                <a:solidFill>
                  <a:srgbClr val="50FA7B"/>
                </a:solidFill>
                <a:latin typeface="Courier New"/>
              </a:rPr>
              <a:t>$ docker exec -it oracleXE sqlplus / as sysdba</a:t>
            </a:r>
          </a:p>
          <a:p>
            <a:pPr algn="l"/>
            <a:r>
              <a:rPr sz="1300" b="0">
                <a:solidFill>
                  <a:srgbClr val="50FA7B"/>
                </a:solidFill>
                <a:latin typeface="Courier New"/>
              </a:rPr>
              <a:t/>
            </a:r>
          </a:p>
          <a:p>
            <a:pPr algn="l"/>
            <a:r>
              <a:rPr sz="1300" b="0">
                <a:solidFill>
                  <a:srgbClr val="50FA7B"/>
                </a:solidFill>
                <a:latin typeface="Courier New"/>
              </a:rPr>
              <a:t>SQL&gt;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566160"/>
            <a:ext cx="5669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C0392B"/>
                </a:solidFill>
                <a:latin typeface="Calibri"/>
              </a:rPr>
              <a:t>What it does: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4023360"/>
            <a:ext cx="384048" cy="384048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4005072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Calibri"/>
              </a:rPr>
              <a:t>Start the oracleXE container from Step 3 (if stopped)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4572000"/>
            <a:ext cx="384048" cy="384048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4553712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Calibri"/>
              </a:rPr>
              <a:t>Open SQL*Plus inside it as SYS (connects to the whole instance, CDB)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5120640"/>
            <a:ext cx="384048" cy="384048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5102352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Calibri"/>
              </a:rPr>
              <a:t>Why not SQL Developer? Its connection opens PDB ORD, where SHUTDOWN / ALTER SYSTEM for the instance aren’t allowed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5669280"/>
            <a:ext cx="384048" cy="384048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5650992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Calibri"/>
              </a:rPr>
              <a:t>Expect: “Oracle Database 21c Express Edition Release 21.0.0.0.0”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92240" y="1051560"/>
            <a:ext cx="5212080" cy="5120640"/>
          </a:xfrm>
          <a:prstGeom prst="rect">
            <a:avLst/>
          </a:prstGeom>
          <a:solidFill>
            <a:srgbClr val="F2F6FB"/>
          </a:solidFill>
          <a:ln w="19050">
            <a:solidFill>
              <a:srgbClr val="4455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>
                <a:solidFill>
                  <a:srgbClr val="445570"/>
                </a:solidFill>
                <a:latin typeface="Calibri"/>
              </a:rPr>
              <a:t>Paste your own Terminal screenshot here
(Cmd + Shift + 4 → drag over the Terminal window)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320040"/>
            <a:ext cx="1005840" cy="365760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QUERY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00200" y="246888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A1A2E"/>
                </a:solidFill>
                <a:latin typeface="Calibri"/>
              </a:rPr>
              <a:t>Startup &amp; Shutdown the Instance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5669280" cy="2331720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85800" y="1161288"/>
            <a:ext cx="137160" cy="137160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14400" y="1161288"/>
            <a:ext cx="137160" cy="137160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43000" y="1161288"/>
            <a:ext cx="137160" cy="137160"/>
          </a:xfrm>
          <a:prstGeom prst="ellipse">
            <a:avLst/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63040" y="1078992"/>
            <a:ext cx="4663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CCCCCC"/>
                </a:solidFill>
                <a:latin typeface="Calibri"/>
              </a:rPr>
              <a:t>Terminal — sqlplus (oracleXE)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417319"/>
            <a:ext cx="5394960" cy="18745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0FA7B"/>
                </a:solidFill>
                <a:latin typeface="Courier New"/>
              </a:rPr>
              <a:t>SQL&gt; startup</a:t>
            </a:r>
          </a:p>
          <a:p>
            <a:pPr algn="l"/>
            <a:r>
              <a:rPr sz="1300" b="0">
                <a:solidFill>
                  <a:srgbClr val="50FA7B"/>
                </a:solidFill>
                <a:latin typeface="Courier New"/>
              </a:rPr>
              <a:t>SQL&gt; shutdown immediate;</a:t>
            </a:r>
          </a:p>
          <a:p>
            <a:pPr algn="l"/>
            <a:r>
              <a:rPr sz="1300" b="0">
                <a:solidFill>
                  <a:srgbClr val="50FA7B"/>
                </a:solidFill>
                <a:latin typeface="Courier New"/>
              </a:rPr>
              <a:t>SQL&gt; startup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566160"/>
            <a:ext cx="5669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6F42C1"/>
                </a:solidFill>
                <a:latin typeface="Calibri"/>
              </a:rPr>
              <a:t>What it does: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4023360"/>
            <a:ext cx="384048" cy="384048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4005072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Calibri"/>
              </a:rPr>
              <a:t>STARTUP on a running DB gives ORA-01081 (already running)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4572000"/>
            <a:ext cx="384048" cy="384048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4553712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Calibri"/>
              </a:rPr>
              <a:t>SHUTDOWN IMMEDIATE closes, dismounts, stops the instance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5120640"/>
            <a:ext cx="384048" cy="384048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5102352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Calibri"/>
              </a:rPr>
              <a:t>STARTUP again: instance started → mounted → opened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5669280"/>
            <a:ext cx="384048" cy="384048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5650992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Calibri"/>
              </a:rPr>
              <a:t>Output also lists SGA sizes (your numbers will differ)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92240" y="1051560"/>
            <a:ext cx="5212080" cy="5120640"/>
          </a:xfrm>
          <a:prstGeom prst="rect">
            <a:avLst/>
          </a:prstGeom>
          <a:solidFill>
            <a:srgbClr val="F2F6FB"/>
          </a:solidFill>
          <a:ln w="19050">
            <a:solidFill>
              <a:srgbClr val="4455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>
                <a:solidFill>
                  <a:srgbClr val="445570"/>
                </a:solidFill>
                <a:latin typeface="Calibri"/>
              </a:rPr>
              <a:t>Paste your own Terminal screenshot here
(Cmd + Shift + 4 → drag over the Terminal window)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320040"/>
            <a:ext cx="1005840" cy="365760"/>
          </a:xfrm>
          <a:prstGeom prst="rect">
            <a:avLst/>
          </a:prstGeom>
          <a:solidFill>
            <a:srgbClr val="086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QUERY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00200" y="246888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A1A2E"/>
                </a:solidFill>
                <a:latin typeface="Calibri"/>
              </a:rPr>
              <a:t>Check Instance Name &amp; Status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5669280" cy="2331720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85800" y="1161288"/>
            <a:ext cx="137160" cy="137160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14400" y="1161288"/>
            <a:ext cx="137160" cy="137160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43000" y="1161288"/>
            <a:ext cx="137160" cy="137160"/>
          </a:xfrm>
          <a:prstGeom prst="ellipse">
            <a:avLst/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63040" y="1078992"/>
            <a:ext cx="4663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CCCCCC"/>
                </a:solidFill>
                <a:latin typeface="Calibri"/>
              </a:rPr>
              <a:t>Terminal — sqlplus (oracleXE)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417319"/>
            <a:ext cx="5394960" cy="18745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0FA7B"/>
                </a:solidFill>
                <a:latin typeface="Courier New"/>
              </a:rPr>
              <a:t>SQL&gt; select instance_name, status</a:t>
            </a:r>
          </a:p>
          <a:p>
            <a:pPr algn="l"/>
            <a:r>
              <a:rPr sz="1300" b="0">
                <a:solidFill>
                  <a:srgbClr val="50FA7B"/>
                </a:solidFill>
                <a:latin typeface="Courier New"/>
              </a:rPr>
              <a:t>     from v$instance;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566160"/>
            <a:ext cx="5669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86AA8"/>
                </a:solidFill>
                <a:latin typeface="Calibri"/>
              </a:rPr>
              <a:t>What it does: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4023360"/>
            <a:ext cx="384048" cy="384048"/>
          </a:xfrm>
          <a:prstGeom prst="rect">
            <a:avLst/>
          </a:prstGeom>
          <a:solidFill>
            <a:srgbClr val="086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4005072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Calibri"/>
              </a:rPr>
              <a:t>v$instance is a dynamic performance view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4572000"/>
            <a:ext cx="384048" cy="384048"/>
          </a:xfrm>
          <a:prstGeom prst="rect">
            <a:avLst/>
          </a:prstGeom>
          <a:solidFill>
            <a:srgbClr val="086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4553712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Calibri"/>
              </a:rPr>
              <a:t>instance_name: XE (the Oracle XE instance in Docker)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5120640"/>
            <a:ext cx="384048" cy="384048"/>
          </a:xfrm>
          <a:prstGeom prst="rect">
            <a:avLst/>
          </a:prstGeom>
          <a:solidFill>
            <a:srgbClr val="086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5102352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Calibri"/>
              </a:rPr>
              <a:t>status: OPEN means users can work in the database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5669280"/>
            <a:ext cx="384048" cy="384048"/>
          </a:xfrm>
          <a:prstGeom prst="rect">
            <a:avLst/>
          </a:prstGeom>
          <a:solidFill>
            <a:srgbClr val="086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5650992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Calibri"/>
              </a:rPr>
              <a:t>Can also run in SQL Developer (my_database connection)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92240" y="1051560"/>
            <a:ext cx="5212080" cy="5120640"/>
          </a:xfrm>
          <a:prstGeom prst="rect">
            <a:avLst/>
          </a:prstGeom>
          <a:solidFill>
            <a:srgbClr val="F2F6FB"/>
          </a:solidFill>
          <a:ln w="19050">
            <a:solidFill>
              <a:srgbClr val="4455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>
                <a:solidFill>
                  <a:srgbClr val="445570"/>
                </a:solidFill>
                <a:latin typeface="Calibri"/>
              </a:rPr>
              <a:t>Paste your own Terminal screenshot here
(Cmd + Shift + 4 → drag over the Terminal window)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320040"/>
            <a:ext cx="1005840" cy="365760"/>
          </a:xfrm>
          <a:prstGeom prst="rect">
            <a:avLst/>
          </a:prstGeom>
          <a:solidFill>
            <a:srgbClr val="157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QUERY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00200" y="246888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A1A2E"/>
                </a:solidFill>
                <a:latin typeface="Calibri"/>
              </a:rPr>
              <a:t>View the db_writer_processes Parameter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5669280" cy="2331720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85800" y="1161288"/>
            <a:ext cx="137160" cy="137160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14400" y="1161288"/>
            <a:ext cx="137160" cy="137160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43000" y="1161288"/>
            <a:ext cx="137160" cy="137160"/>
          </a:xfrm>
          <a:prstGeom prst="ellipse">
            <a:avLst/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63040" y="1078992"/>
            <a:ext cx="4663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CCCCCC"/>
                </a:solidFill>
                <a:latin typeface="Calibri"/>
              </a:rPr>
              <a:t>Terminal — sqlplus (oracleXE)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417319"/>
            <a:ext cx="5394960" cy="18745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0FA7B"/>
                </a:solidFill>
                <a:latin typeface="Courier New"/>
              </a:rPr>
              <a:t>SQL&gt; select name, value</a:t>
            </a:r>
          </a:p>
          <a:p>
            <a:pPr algn="l"/>
            <a:r>
              <a:rPr sz="1300" b="0">
                <a:solidFill>
                  <a:srgbClr val="50FA7B"/>
                </a:solidFill>
                <a:latin typeface="Courier New"/>
              </a:rPr>
              <a:t>     from v$parameter</a:t>
            </a:r>
          </a:p>
          <a:p>
            <a:pPr algn="l"/>
            <a:r>
              <a:rPr sz="1300" b="0">
                <a:solidFill>
                  <a:srgbClr val="50FA7B"/>
                </a:solidFill>
                <a:latin typeface="Courier New"/>
              </a:rPr>
              <a:t>     where name='db_writer_processes';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566160"/>
            <a:ext cx="5669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7A47"/>
                </a:solidFill>
                <a:latin typeface="Calibri"/>
              </a:rPr>
              <a:t>What it does: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4023360"/>
            <a:ext cx="384048" cy="384048"/>
          </a:xfrm>
          <a:prstGeom prst="rect">
            <a:avLst/>
          </a:prstGeom>
          <a:solidFill>
            <a:srgbClr val="157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4005072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Calibri"/>
              </a:rPr>
              <a:t>v$parameter lists initialization parameters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4572000"/>
            <a:ext cx="384048" cy="384048"/>
          </a:xfrm>
          <a:prstGeom prst="rect">
            <a:avLst/>
          </a:prstGeom>
          <a:solidFill>
            <a:srgbClr val="157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4553712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Calibri"/>
              </a:rPr>
              <a:t>db_writer_processes = number of DBWn background processes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5120640"/>
            <a:ext cx="384048" cy="384048"/>
          </a:xfrm>
          <a:prstGeom prst="rect">
            <a:avLst/>
          </a:prstGeom>
          <a:solidFill>
            <a:srgbClr val="157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5102352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Calibri"/>
              </a:rPr>
              <a:t>DBWn writes changed blocks from buffer cache to data files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5669280"/>
            <a:ext cx="384048" cy="384048"/>
          </a:xfrm>
          <a:prstGeom prst="rect">
            <a:avLst/>
          </a:prstGeom>
          <a:solidFill>
            <a:srgbClr val="157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5650992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Calibri"/>
              </a:rPr>
              <a:t>Also works in SQL Developer worksheet (F5)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92240" y="1051560"/>
            <a:ext cx="5212080" cy="5120640"/>
          </a:xfrm>
          <a:prstGeom prst="rect">
            <a:avLst/>
          </a:prstGeom>
          <a:solidFill>
            <a:srgbClr val="F2F6FB"/>
          </a:solidFill>
          <a:ln w="19050">
            <a:solidFill>
              <a:srgbClr val="4455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>
                <a:solidFill>
                  <a:srgbClr val="445570"/>
                </a:solidFill>
                <a:latin typeface="Calibri"/>
              </a:rPr>
              <a:t>Paste your own Terminal screenshot here
(Cmd + Shift + 4 → drag over the Terminal window)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320040"/>
            <a:ext cx="1005840" cy="36576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QUERY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00200" y="246888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A1A2E"/>
                </a:solidFill>
                <a:latin typeface="Calibri"/>
              </a:rPr>
              <a:t>Change a Static Parameter (SCOPE=SPFILE)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5669280" cy="2331720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85800" y="1161288"/>
            <a:ext cx="137160" cy="137160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14400" y="1161288"/>
            <a:ext cx="137160" cy="137160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43000" y="1161288"/>
            <a:ext cx="137160" cy="137160"/>
          </a:xfrm>
          <a:prstGeom prst="ellipse">
            <a:avLst/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63040" y="1078992"/>
            <a:ext cx="4663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CCCCCC"/>
                </a:solidFill>
                <a:latin typeface="Calibri"/>
              </a:rPr>
              <a:t>Terminal — sqlplus (oracleXE)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417319"/>
            <a:ext cx="5394960" cy="18745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0FA7B"/>
                </a:solidFill>
                <a:latin typeface="Courier New"/>
              </a:rPr>
              <a:t>SQL&gt; alter system set db_writer_processes=2;</a:t>
            </a:r>
          </a:p>
          <a:p>
            <a:pPr algn="l"/>
            <a:r>
              <a:rPr sz="1300" b="0">
                <a:solidFill>
                  <a:srgbClr val="50FA7B"/>
                </a:solidFill>
                <a:latin typeface="Courier New"/>
              </a:rPr>
              <a:t>   → ORA-02095: specified initialization</a:t>
            </a:r>
          </a:p>
          <a:p>
            <a:pPr algn="l"/>
            <a:r>
              <a:rPr sz="1300" b="0">
                <a:solidFill>
                  <a:srgbClr val="50FA7B"/>
                </a:solidFill>
                <a:latin typeface="Courier New"/>
              </a:rPr>
              <a:t>     parameter cannot be modified</a:t>
            </a:r>
          </a:p>
          <a:p>
            <a:pPr algn="l"/>
            <a:r>
              <a:rPr sz="1300" b="0">
                <a:solidFill>
                  <a:srgbClr val="50FA7B"/>
                </a:solidFill>
                <a:latin typeface="Courier New"/>
              </a:rPr>
              <a:t/>
            </a:r>
          </a:p>
          <a:p>
            <a:pPr algn="l"/>
            <a:r>
              <a:rPr sz="1300" b="0">
                <a:solidFill>
                  <a:srgbClr val="50FA7B"/>
                </a:solidFill>
                <a:latin typeface="Courier New"/>
              </a:rPr>
              <a:t>SQL&gt; alter system set db_writer_processes=2</a:t>
            </a:r>
          </a:p>
          <a:p>
            <a:pPr algn="l"/>
            <a:r>
              <a:rPr sz="1300" b="0">
                <a:solidFill>
                  <a:srgbClr val="50FA7B"/>
                </a:solidFill>
                <a:latin typeface="Courier New"/>
              </a:rPr>
              <a:t>     scope=spfile;</a:t>
            </a:r>
          </a:p>
          <a:p>
            <a:pPr algn="l"/>
            <a:r>
              <a:rPr sz="1300" b="0">
                <a:solidFill>
                  <a:srgbClr val="50FA7B"/>
                </a:solidFill>
                <a:latin typeface="Courier New"/>
              </a:rPr>
              <a:t>   → System altered.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566160"/>
            <a:ext cx="5669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C0392B"/>
                </a:solidFill>
                <a:latin typeface="Calibri"/>
              </a:rPr>
              <a:t>What it does: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4023360"/>
            <a:ext cx="384048" cy="384048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4005072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Calibri"/>
              </a:rPr>
              <a:t>Static parameter: cannot change in the running instance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4572000"/>
            <a:ext cx="384048" cy="384048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4553712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Calibri"/>
              </a:rPr>
              <a:t>SCOPE=SPFILE saves it to the server parameter file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5120640"/>
            <a:ext cx="384048" cy="384048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5102352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Calibri"/>
              </a:rPr>
              <a:t>New value takes effect only after a restart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5669280"/>
            <a:ext cx="384048" cy="384048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5650992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Calibri"/>
              </a:rPr>
              <a:t>(If ORA-32001 appears, the DB was started without SPFILE)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92240" y="1051560"/>
            <a:ext cx="5212080" cy="5120640"/>
          </a:xfrm>
          <a:prstGeom prst="rect">
            <a:avLst/>
          </a:prstGeom>
          <a:solidFill>
            <a:srgbClr val="F2F6FB"/>
          </a:solidFill>
          <a:ln w="19050">
            <a:solidFill>
              <a:srgbClr val="4455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>
                <a:solidFill>
                  <a:srgbClr val="445570"/>
                </a:solidFill>
                <a:latin typeface="Calibri"/>
              </a:rPr>
              <a:t>Paste your own Terminal screenshot here
(Cmd + Shift + 4 → drag over the Terminal window)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320040"/>
            <a:ext cx="1005840" cy="365760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QUERY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00200" y="246888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A1A2E"/>
                </a:solidFill>
                <a:latin typeface="Calibri"/>
              </a:rPr>
              <a:t>Restart &amp; Verify the New Value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5669280" cy="2331720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85800" y="1161288"/>
            <a:ext cx="137160" cy="137160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14400" y="1161288"/>
            <a:ext cx="137160" cy="137160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43000" y="1161288"/>
            <a:ext cx="137160" cy="137160"/>
          </a:xfrm>
          <a:prstGeom prst="ellipse">
            <a:avLst/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63040" y="1078992"/>
            <a:ext cx="4663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CCCCCC"/>
                </a:solidFill>
                <a:latin typeface="Calibri"/>
              </a:rPr>
              <a:t>Terminal — sqlplus (oracleXE)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417319"/>
            <a:ext cx="5394960" cy="18745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0FA7B"/>
                </a:solidFill>
                <a:latin typeface="Courier New"/>
              </a:rPr>
              <a:t>SQL&gt; shutdown immediate;</a:t>
            </a:r>
          </a:p>
          <a:p>
            <a:pPr algn="l"/>
            <a:r>
              <a:rPr sz="1300" b="0">
                <a:solidFill>
                  <a:srgbClr val="50FA7B"/>
                </a:solidFill>
                <a:latin typeface="Courier New"/>
              </a:rPr>
              <a:t>SQL&gt; startup</a:t>
            </a:r>
          </a:p>
          <a:p>
            <a:pPr algn="l"/>
            <a:r>
              <a:rPr sz="1300" b="0">
                <a:solidFill>
                  <a:srgbClr val="50FA7B"/>
                </a:solidFill>
                <a:latin typeface="Courier New"/>
              </a:rPr>
              <a:t>SQL&gt; select name, value from v$parameter</a:t>
            </a:r>
          </a:p>
          <a:p>
            <a:pPr algn="l"/>
            <a:r>
              <a:rPr sz="1300" b="0">
                <a:solidFill>
                  <a:srgbClr val="50FA7B"/>
                </a:solidFill>
                <a:latin typeface="Courier New"/>
              </a:rPr>
              <a:t>     where name='db_writer_processes';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566160"/>
            <a:ext cx="5669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6F42C1"/>
                </a:solidFill>
                <a:latin typeface="Calibri"/>
              </a:rPr>
              <a:t>What it does: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4023360"/>
            <a:ext cx="384048" cy="384048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4005072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Calibri"/>
              </a:rPr>
              <a:t>Restart so the instance re-reads the SPFILE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4572000"/>
            <a:ext cx="384048" cy="384048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4553712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Calibri"/>
              </a:rPr>
              <a:t>Run the same query from Query 3 again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5120640"/>
            <a:ext cx="384048" cy="384048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5102352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Calibri"/>
              </a:rPr>
              <a:t>VALUE should now show 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5669280"/>
            <a:ext cx="384048" cy="384048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5650992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Calibri"/>
              </a:rPr>
              <a:t>Proves the change was applied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92240" y="1051560"/>
            <a:ext cx="5212080" cy="5120640"/>
          </a:xfrm>
          <a:prstGeom prst="rect">
            <a:avLst/>
          </a:prstGeom>
          <a:solidFill>
            <a:srgbClr val="F2F6FB"/>
          </a:solidFill>
          <a:ln w="19050">
            <a:solidFill>
              <a:srgbClr val="4455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>
                <a:solidFill>
                  <a:srgbClr val="445570"/>
                </a:solidFill>
                <a:latin typeface="Calibri"/>
              </a:rPr>
              <a:t>Paste your own Terminal screenshot here
(Cmd + Shift + 4 → drag over the Terminal window)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320040"/>
            <a:ext cx="1005840" cy="365760"/>
          </a:xfrm>
          <a:prstGeom prst="rect">
            <a:avLst/>
          </a:prstGeom>
          <a:solidFill>
            <a:srgbClr val="086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QUERY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00200" y="246888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A1A2E"/>
                </a:solidFill>
                <a:latin typeface="Calibri"/>
              </a:rPr>
              <a:t>Show the System Global Area (SGA)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5669280" cy="2331720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85800" y="1161288"/>
            <a:ext cx="137160" cy="137160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14400" y="1161288"/>
            <a:ext cx="137160" cy="137160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43000" y="1161288"/>
            <a:ext cx="137160" cy="137160"/>
          </a:xfrm>
          <a:prstGeom prst="ellipse">
            <a:avLst/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63040" y="1078992"/>
            <a:ext cx="4663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CCCCCC"/>
                </a:solidFill>
                <a:latin typeface="Calibri"/>
              </a:rPr>
              <a:t>Terminal — sqlplus (oracleXE)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417319"/>
            <a:ext cx="5394960" cy="18745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0FA7B"/>
                </a:solidFill>
                <a:latin typeface="Courier New"/>
              </a:rPr>
              <a:t>SQL&gt; show sga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566160"/>
            <a:ext cx="5669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86AA8"/>
                </a:solidFill>
                <a:latin typeface="Calibri"/>
              </a:rPr>
              <a:t>What it does: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4023360"/>
            <a:ext cx="384048" cy="384048"/>
          </a:xfrm>
          <a:prstGeom prst="rect">
            <a:avLst/>
          </a:prstGeom>
          <a:solidFill>
            <a:srgbClr val="086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4005072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Calibri"/>
              </a:rPr>
              <a:t>SGA = shared memory area of the Oracle instance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4572000"/>
            <a:ext cx="384048" cy="384048"/>
          </a:xfrm>
          <a:prstGeom prst="rect">
            <a:avLst/>
          </a:prstGeom>
          <a:solidFill>
            <a:srgbClr val="086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4553712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Calibri"/>
              </a:rPr>
              <a:t>Fixed Size, Variable Size: internal structures &amp; pools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5120640"/>
            <a:ext cx="384048" cy="384048"/>
          </a:xfrm>
          <a:prstGeom prst="rect">
            <a:avLst/>
          </a:prstGeom>
          <a:solidFill>
            <a:srgbClr val="086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5102352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Calibri"/>
              </a:rPr>
              <a:t>Database Buffers: cache of data blocks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5669280"/>
            <a:ext cx="384048" cy="384048"/>
          </a:xfrm>
          <a:prstGeom prst="rect">
            <a:avLst/>
          </a:prstGeom>
          <a:solidFill>
            <a:srgbClr val="086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5650992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Calibri"/>
              </a:rPr>
              <a:t>Redo Buffers: holds redo entries before writing to logs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92240" y="1051560"/>
            <a:ext cx="5212080" cy="5120640"/>
          </a:xfrm>
          <a:prstGeom prst="rect">
            <a:avLst/>
          </a:prstGeom>
          <a:solidFill>
            <a:srgbClr val="F2F6FB"/>
          </a:solidFill>
          <a:ln w="19050">
            <a:solidFill>
              <a:srgbClr val="4455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>
                <a:solidFill>
                  <a:srgbClr val="445570"/>
                </a:solidFill>
                <a:latin typeface="Calibri"/>
              </a:rPr>
              <a:t>Paste your own Terminal screenshot here
(Cmd + Shift + 4 → drag over the Terminal window)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210</TotalTime>
  <Words>633</Words>
  <Application>Microsoft Macintosh PowerPoint</Application>
  <PresentationFormat>Custom</PresentationFormat>
  <Paragraphs>109</Paragraphs>
  <Slides>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Anthropic Sans</vt:lpstr>
      <vt:lpstr>Arial</vt:lpstr>
      <vt:lpstr>Calibri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Microsoft Office User</cp:lastModifiedBy>
  <cp:revision>4</cp:revision>
  <dcterms:created xsi:type="dcterms:W3CDTF">2013-01-27T09:14:16Z</dcterms:created>
  <dcterms:modified xsi:type="dcterms:W3CDTF">2026-10-08T07:00:44Z</dcterms:modified>
  <cp:category/>
</cp:coreProperties>
</file>