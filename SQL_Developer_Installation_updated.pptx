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 snapToObjects="1">
      <p:cViewPr varScale="1">
        <p:scale>
          <a:sx n="120" d="100"/>
          <a:sy n="120" d="100"/>
        </p:scale>
        <p:origin x="800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6T09:54:04.420"/>
    </inkml:context>
    <inkml:brush xml:id="br0">
      <inkml:brushProperty name="width" value="0.05" units="cm"/>
      <inkml:brushProperty name="height" value="0.05" units="cm"/>
      <inkml:brushProperty name="color" value="#00A0D7"/>
      <inkml:brushProperty name="ignorePressure" value="1"/>
    </inkml:brush>
  </inkml:definitions>
  <inkml:trace contextRef="#ctx0" brushRef="#br0">2160 1,'-1556'0,"3135"0,-3750 0,2160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6T10:05:49.237"/>
    </inkml:context>
    <inkml:brush xml:id="br0">
      <inkml:brushProperty name="width" value="0.05" units="cm"/>
      <inkml:brushProperty name="height" value="0.05" units="cm"/>
      <inkml:brushProperty name="color" value="#00A0D7"/>
      <inkml:brushProperty name="ignorePressure" value="1"/>
    </inkml:brush>
  </inkml:definitions>
  <inkml:trace contextRef="#ctx0" brushRef="#br0">2160 1,'-1556'0,"3135"0,-3750 0,2160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6T08:57:02.294"/>
    </inkml:context>
    <inkml:brush xml:id="br0">
      <inkml:brushProperty name="width" value="0.05" units="cm"/>
      <inkml:brushProperty name="height" value="0.05" units="cm"/>
      <inkml:brushProperty name="color" value="#00A0D7"/>
      <inkml:brushProperty name="ignorePressure" value="1"/>
    </inkml:brush>
  </inkml:definitions>
  <inkml:trace contextRef="#ctx0" brushRef="#br0">2160 1,'-1556'0,"3135"0,-3750 0,2160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6T08:36:17.271"/>
    </inkml:context>
    <inkml:brush xml:id="br0">
      <inkml:brushProperty name="width" value="0.05" units="cm"/>
      <inkml:brushProperty name="height" value="0.05" units="cm"/>
      <inkml:brushProperty name="color" value="#00A0D7"/>
      <inkml:brushProperty name="ignorePressure" value="1"/>
    </inkml:brush>
  </inkml:definitions>
  <inkml:trace contextRef="#ctx0" brushRef="#br0">6287 1,'-4530'0,"9128"0,-10921 0,6292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6T08:48:09.516"/>
    </inkml:context>
    <inkml:brush xml:id="br0">
      <inkml:brushProperty name="width" value="0.05" units="cm"/>
      <inkml:brushProperty name="height" value="0.05" units="cm"/>
      <inkml:brushProperty name="color" value="#00A0D7"/>
      <inkml:brushProperty name="ignorePressure" value="1"/>
    </inkml:brush>
  </inkml:definitions>
  <inkml:trace contextRef="#ctx0" brushRef="#br0">7234 1,'-5213'0,"10503"0,-12565 0,7240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6T08:35:15.250"/>
    </inkml:context>
    <inkml:brush xml:id="br0">
      <inkml:brushProperty name="width" value="0.05" units="cm"/>
      <inkml:brushProperty name="height" value="0.05" units="cm"/>
      <inkml:brushProperty name="color" value="#00A0D7"/>
      <inkml:brushProperty name="ignorePressure" value="1"/>
    </inkml:brush>
  </inkml:definitions>
  <inkml:trace contextRef="#ctx0" brushRef="#br0">801 1,'-576'0,"1161"0,-1390 0,801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50A7D-7B58-EA49-955D-AA4075B5B4C9}" type="datetimeFigureOut">
              <a:rPr lang="en-SA" smtClean="0"/>
              <a:t>08/10/2026 R</a:t>
            </a:fld>
            <a:endParaRPr lang="en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6F244F-0F44-5645-B4E4-8A08DAE319E7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226323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F244F-0F44-5645-B4E4-8A08DAE319E7}" type="slidenum">
              <a:rPr lang="en-SA" smtClean="0"/>
              <a:t>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576261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F244F-0F44-5645-B4E4-8A08DAE319E7}" type="slidenum">
              <a:rPr lang="en-SA" smtClean="0"/>
              <a:t>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357692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racle.com/database/sqldeveloper/" TargetMode="External"/><Relationship Id="rId3" Type="http://schemas.openxmlformats.org/officeDocument/2006/relationships/hyperlink" Target="https://docs.docker.com/desktop/setup/install/mac-install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ustomXml" Target="../ink/ink1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customXml" Target="../ink/ink2.xml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jpg"/><Relationship Id="rId5" Type="http://schemas.openxmlformats.org/officeDocument/2006/relationships/customXml" Target="../ink/ink3.xml"/><Relationship Id="rId6" Type="http://schemas.openxmlformats.org/officeDocument/2006/relationships/image" Target="../media/image3.pn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customXml" Target="../ink/ink4.xml"/><Relationship Id="rId4" Type="http://schemas.openxmlformats.org/officeDocument/2006/relationships/image" Target="../media/image10.png"/><Relationship Id="rId5" Type="http://schemas.openxmlformats.org/officeDocument/2006/relationships/customXml" Target="../ink/ink5.xml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customXml" Target="../ink/ink6.xml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954F9A2-1136-440C-C034-FC90FA123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2801" y="521553"/>
            <a:ext cx="3526397" cy="354718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1DA9471-AB72-E27C-9905-AABAA4E3FD21}"/>
              </a:ext>
            </a:extLst>
          </p:cNvPr>
          <p:cNvSpPr txBox="1"/>
          <p:nvPr/>
        </p:nvSpPr>
        <p:spPr>
          <a:xfrm>
            <a:off x="3943085" y="4572000"/>
            <a:ext cx="43026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Assignment: </a:t>
            </a:r>
            <a:r>
              <a:rPr lang="en-US" sz="2000" dirty="0"/>
              <a:t>SQL Developer Installation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88F0B6-9E26-CA51-FB34-C75B0CF447A4}"/>
              </a:ext>
            </a:extLst>
          </p:cNvPr>
          <p:cNvSpPr txBox="1"/>
          <p:nvPr/>
        </p:nvSpPr>
        <p:spPr>
          <a:xfrm>
            <a:off x="4304417" y="5164631"/>
            <a:ext cx="36971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Name</a:t>
            </a:r>
            <a:r>
              <a:rPr lang="en-US" sz="2000" dirty="0"/>
              <a:t>: Syed Mujtaba Ul Hassan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9136E7-908B-F865-1BD2-545F09200A5F}"/>
              </a:ext>
            </a:extLst>
          </p:cNvPr>
          <p:cNvSpPr txBox="1"/>
          <p:nvPr/>
        </p:nvSpPr>
        <p:spPr>
          <a:xfrm>
            <a:off x="5160742" y="5757262"/>
            <a:ext cx="2039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BS-IT Department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324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1A1A2E"/>
                </a:solidFill>
                <a:latin typeface="Calibri"/>
              </a:rPr>
              <a:t>How to Install &amp;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4880"/>
            <a:ext cx="109728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>
                <a:solidFill>
                  <a:srgbClr val="C0392B"/>
                </a:solidFill>
                <a:latin typeface="Calibri"/>
              </a:rPr>
              <a:t>Oracle SQL Developer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153560"/>
            <a:ext cx="6702552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351128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445570"/>
                </a:solidFill>
                <a:latin typeface="Calibri"/>
              </a:rPr>
              <a:t>Follow each step carefully </a:t>
            </a:r>
            <a:r>
              <a:rPr lang="en-US" sz="1400" i="1" dirty="0">
                <a:solidFill>
                  <a:srgbClr val="445570"/>
                </a:solidFill>
                <a:latin typeface="Calibri"/>
              </a:rPr>
              <a:t>"</a:t>
            </a:r>
            <a:r>
              <a:rPr sz="1400" b="0" i="1" dirty="0">
                <a:solidFill>
                  <a:srgbClr val="445570"/>
                </a:solidFill>
                <a:latin typeface="Calibri"/>
              </a:rPr>
              <a:t> screenshots </a:t>
            </a:r>
            <a:r>
              <a:rPr lang="en-US" sz="1400" b="0" i="1" dirty="0">
                <a:solidFill>
                  <a:srgbClr val="445570"/>
                </a:solidFill>
                <a:latin typeface="Calibri"/>
              </a:rPr>
              <a:t>are </a:t>
            </a:r>
            <a:r>
              <a:rPr sz="1400" b="0" i="1" dirty="0">
                <a:solidFill>
                  <a:srgbClr val="445570"/>
                </a:solidFill>
                <a:latin typeface="Calibri"/>
              </a:rPr>
              <a:t>included</a:t>
            </a:r>
            <a:r>
              <a:rPr lang="en-US" sz="1400" b="0" i="1" dirty="0">
                <a:solidFill>
                  <a:srgbClr val="445570"/>
                </a:solidFill>
                <a:latin typeface="Calibri"/>
              </a:rPr>
              <a:t>"</a:t>
            </a:r>
            <a:endParaRPr sz="1400" b="0" i="1" dirty="0">
              <a:solidFill>
                <a:srgbClr val="445570"/>
              </a:solidFill>
              <a:latin typeface="Calibri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D83370CC-0552-D74A-FA49-D357DBD66B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012" y="2493222"/>
            <a:ext cx="10972800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SA" altLang="en-SA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Step 1: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SA" altLang="en-SA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en-SA" altLang="en-SA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Download Oracle SQL Developer from </a:t>
            </a:r>
            <a:r>
              <a:rPr lang="en-US" dirty="0">
                <a:solidFill>
                  <a:srgbClr val="121212"/>
                </a:solidFill>
                <a:latin typeface="Anthropic Sans"/>
                <a:hlinkClick r:id="rId2"/>
              </a:rPr>
              <a:t>https://www.oracle.com/database/sqldeveloper/</a:t>
            </a:r>
            <a:r>
              <a:rPr lang="en-SA" dirty="0">
                <a:solidFill>
                  <a:srgbClr val="121212"/>
                </a:solidFill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site.</a:t>
            </a:r>
            <a:endParaRPr kumimoji="0" lang="en-SA" altLang="en-SA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SA" altLang="en-SA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Step 2: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SA" altLang="en-SA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en-SA" altLang="en-SA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Install Docker Desktop (macOS) from </a:t>
            </a:r>
            <a:r>
              <a:rPr lang="en-US" dirty="0">
                <a:solidFill>
                  <a:srgbClr val="121212"/>
                </a:solidFill>
                <a:latin typeface="Anthropic Sans"/>
                <a:hlinkClick r:id="rId3"/>
              </a:rPr>
              <a:t>https://docs.docker.com/desktop/setup/install/mac-install/</a:t>
            </a:r>
            <a:r>
              <a:rPr lang="en-US" dirty="0">
                <a:solidFill>
                  <a:srgbClr val="121212"/>
                </a:solidFill>
                <a:latin typeface="Anthropic Sans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site.</a:t>
            </a:r>
            <a:endParaRPr kumimoji="0" lang="en-SA" altLang="en-SA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SA" altLang="en-SA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Step 3: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SA" altLang="en-SA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en-SA" altLang="en-SA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Run Database Container (Docker).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SA" altLang="en-SA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Step 4: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SA" altLang="en-SA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en-SA" altLang="en-SA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Launch SQL Developer.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SA" altLang="en-SA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Step 5: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SA" altLang="en-SA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kumimoji="0" lang="en-SA" altLang="en-SA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Connect to Database via Docker.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0B10D74D-CA9F-7C3F-A254-75AC86A67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86" y="1623931"/>
            <a:ext cx="7214741" cy="40572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590657"/>
            <a:ext cx="100584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785" y="663811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608947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Download Oracle SQL Developer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0739"/>
            <a:ext cx="68580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31713" y="1230739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6AA8"/>
                </a:solidFill>
                <a:latin typeface="Calibri"/>
              </a:rPr>
              <a:t>How to download: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1713" y="1733659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31713" y="173365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8913" y="1770235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Go to oracle.com/database/sqldeveloper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31713" y="2556619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31713" y="255661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8913" y="2593195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Click 'Download SQL Developer'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31713" y="3379579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31713" y="337957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913" y="3416155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Choose macOS (includes JDK 17)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31713" y="4202539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31713" y="420253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8913" y="4239115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Sign in with free Oracle account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713" y="5025499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31713" y="502549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913" y="5062075"/>
            <a:ext cx="4023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"/>
              </a:rPr>
              <a:t>Download the .zip file 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3D973DC-5478-5E19-CEFB-ABD19079C9F9}"/>
              </a:ext>
            </a:extLst>
          </p:cNvPr>
          <p:cNvSpPr/>
          <p:nvPr/>
        </p:nvSpPr>
        <p:spPr>
          <a:xfrm>
            <a:off x="210186" y="1611086"/>
            <a:ext cx="3496841" cy="1133856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57200" y="2600664"/>
            <a:ext cx="29260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5958" y="2641441"/>
            <a:ext cx="21470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 Click HERE to download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D6A0379-0AB1-9846-C84F-4D257A1D356E}"/>
                  </a:ext>
                </a:extLst>
              </p14:cNvPr>
              <p14:cNvContentPartPr/>
              <p14:nvPr/>
            </p14:nvContentPartPr>
            <p14:xfrm rot="2730002">
              <a:off x="794778" y="2285763"/>
              <a:ext cx="785618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D6A0379-0AB1-9846-C84F-4D257A1D356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30002">
                <a:off x="785781" y="2276763"/>
                <a:ext cx="803252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100584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1713" y="2743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011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Install &amp; Launch SQL Developer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59"/>
            <a:ext cx="5812562" cy="45719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5170" y="5998464"/>
            <a:ext cx="29260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81983" y="6041395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 Click + to add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3314" y="715991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6AA8"/>
                </a:solidFill>
                <a:latin typeface="Calibri"/>
              </a:rPr>
              <a:t>After downloading: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1486" y="1303464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7908" y="13258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3314" y="1357884"/>
            <a:ext cx="5394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1A1A2E"/>
                </a:solidFill>
                <a:latin typeface="Calibri"/>
              </a:rPr>
              <a:t>Unzip the downloaded .zip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7908" y="225600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9680" y="22818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3314" y="2258568"/>
            <a:ext cx="5394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1A1A2E"/>
                </a:solidFill>
                <a:latin typeface="Calibri"/>
              </a:rPr>
              <a:t>Find 'SQL Developer.app' inside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8750" y="3152324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8750" y="317819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3314" y="3122022"/>
            <a:ext cx="5394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1A1A2E"/>
                </a:solidFill>
                <a:latin typeface="Calibri"/>
              </a:rPr>
              <a:t>Drag it to your Applications folder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8750" y="4060473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8750" y="4082831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414" y="3894944"/>
            <a:ext cx="53949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1A1A2E"/>
                </a:solidFill>
                <a:latin typeface="Calibri"/>
              </a:rPr>
              <a:t>Open — if blocked:
System Settings → Privacy &amp; Security
→ click 'Open Anyway'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68874" y="5250746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56517" y="5269383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024" y="5138242"/>
            <a:ext cx="5394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1A1A2E"/>
                </a:solidFill>
                <a:latin typeface="Calibri"/>
              </a:rPr>
              <a:t>Click the green + button
to add a new connection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34ECE62-60C6-090F-8D00-1DD958F06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99" y="1259084"/>
            <a:ext cx="5920607" cy="460222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9C577A7-9E48-A707-7CCB-EFC3E420F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768" y="4845144"/>
            <a:ext cx="3075902" cy="195072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24B0D0E-9A5D-2FDC-EF10-A99B54FF7AE8}"/>
                  </a:ext>
                </a:extLst>
              </p14:cNvPr>
              <p14:cNvContentPartPr/>
              <p14:nvPr/>
            </p14:nvContentPartPr>
            <p14:xfrm>
              <a:off x="7176065" y="6345936"/>
              <a:ext cx="785618" cy="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24B0D0E-9A5D-2FDC-EF10-A99B54FF7AE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67068" y="6336936"/>
                <a:ext cx="803252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17BD0F0-601D-A416-0300-0E504E92AB19}"/>
              </a:ext>
            </a:extLst>
          </p:cNvPr>
          <p:cNvSpPr txBox="1"/>
          <p:nvPr/>
        </p:nvSpPr>
        <p:spPr>
          <a:xfrm>
            <a:off x="7931107" y="6161270"/>
            <a:ext cx="354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 dirty="0">
                <a:solidFill>
                  <a:srgbClr val="1A1A2E"/>
                </a:solidFill>
                <a:latin typeface="Calibri"/>
              </a:rPr>
              <a:t> 3</a:t>
            </a:r>
            <a:endParaRPr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4DB21A-1FF3-C4E6-9629-29F534DB97FE}"/>
              </a:ext>
            </a:extLst>
          </p:cNvPr>
          <p:cNvSpPr/>
          <p:nvPr/>
        </p:nvSpPr>
        <p:spPr>
          <a:xfrm>
            <a:off x="7961683" y="6157222"/>
            <a:ext cx="354317" cy="36933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70916" y="351733"/>
            <a:ext cx="1005840" cy="457200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79" y="464845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353425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1A1A2E"/>
                </a:solidFill>
                <a:latin typeface="Calibri"/>
              </a:rPr>
              <a:t>Install Docker Desktop (</a:t>
            </a:r>
            <a:r>
              <a:rPr lang="en-US" sz="2600" b="1" dirty="0">
                <a:solidFill>
                  <a:srgbClr val="1A1A2E"/>
                </a:solidFill>
                <a:latin typeface="Calibri"/>
              </a:rPr>
              <a:t>m</a:t>
            </a:r>
            <a:r>
              <a:rPr lang="en-US" sz="2600" b="1" i="0" dirty="0">
                <a:solidFill>
                  <a:srgbClr val="1A1A2E"/>
                </a:solidFill>
                <a:latin typeface="Calibri"/>
              </a:rPr>
              <a:t>acOS M1 / </a:t>
            </a:r>
            <a:r>
              <a:rPr sz="2600" b="1" i="0" dirty="0">
                <a:solidFill>
                  <a:srgbClr val="1A1A2E"/>
                </a:solidFill>
                <a:latin typeface="Calibri"/>
              </a:rPr>
              <a:t>M</a:t>
            </a:r>
            <a:r>
              <a:rPr lang="en-US" sz="2600" b="1" i="0" dirty="0">
                <a:solidFill>
                  <a:srgbClr val="1A1A2E"/>
                </a:solidFill>
                <a:latin typeface="Calibri"/>
              </a:rPr>
              <a:t>2 / M3</a:t>
            </a:r>
            <a:r>
              <a:rPr sz="2600" b="1" i="0" dirty="0">
                <a:solidFill>
                  <a:srgbClr val="1A1A2E"/>
                </a:solidFill>
                <a:latin typeface="Calibri"/>
              </a:rPr>
              <a:t> Setup)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14438"/>
            <a:ext cx="2606040" cy="457200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27866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Step 1  Download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" y="2264328"/>
            <a:ext cx="23317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"/>
              </a:rPr>
              <a:t>Go to </a:t>
            </a:r>
            <a:r>
              <a:rPr sz="1100" b="0" i="0" dirty="0" err="1">
                <a:solidFill>
                  <a:srgbClr val="1A1A2E"/>
                </a:solidFill>
                <a:latin typeface="Calibri"/>
              </a:rPr>
              <a:t>docker.com</a:t>
            </a:r>
            <a:r>
              <a:rPr sz="1100" b="0" i="0" dirty="0">
                <a:solidFill>
                  <a:srgbClr val="1A1A2E"/>
                </a:solidFill>
                <a:latin typeface="Calibri"/>
              </a:rPr>
              <a:t>/products/
docker-desktop</a:t>
            </a:r>
            <a:r>
              <a:rPr lang="en-US" sz="1100" b="0" i="0" dirty="0">
                <a:solidFill>
                  <a:srgbClr val="1A1A2E"/>
                </a:solidFill>
                <a:latin typeface="Calibri"/>
              </a:rPr>
              <a:t> ,</a:t>
            </a:r>
            <a:r>
              <a:rPr sz="1100" b="0" i="0" dirty="0">
                <a:solidFill>
                  <a:srgbClr val="1A1A2E"/>
                </a:solidFill>
                <a:latin typeface="Calibri"/>
              </a:rPr>
              <a:t> pick
Apple Silicon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5228" y="2512886"/>
            <a:ext cx="274320" cy="54864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903828" y="2439734"/>
            <a:ext cx="73152" cy="201168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0" y="1214438"/>
            <a:ext cx="2606040" cy="457200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79" y="1291766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Step 2  Install &amp; 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768" y="2234261"/>
            <a:ext cx="23317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"/>
              </a:rPr>
              <a:t>Install like a normal app.
Wait for the whale</a:t>
            </a:r>
            <a:r>
              <a:rPr lang="en-US" sz="1100" b="0" i="0" dirty="0">
                <a:solidFill>
                  <a:srgbClr val="1A1A2E"/>
                </a:solidFill>
                <a:latin typeface="Calibri"/>
              </a:rPr>
              <a:t> icon</a:t>
            </a:r>
            <a:r>
              <a:rPr sz="1100" b="0" i="0" dirty="0">
                <a:solidFill>
                  <a:srgbClr val="1A1A2E"/>
                </a:solidFill>
                <a:latin typeface="Calibri"/>
              </a:rPr>
              <a:t>
to appear in menu bar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5588" y="2512886"/>
            <a:ext cx="274320" cy="54864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84188" y="2439734"/>
            <a:ext cx="73152" cy="201168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80759" y="1214438"/>
            <a:ext cx="260604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18" y="127993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Step 3  Enable Rosetta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2264328"/>
            <a:ext cx="2331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"/>
              </a:rPr>
              <a:t>Settings → General → turn on
'Use Rosetta for x86/amd64
emulation on Apple Silicon'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512886"/>
            <a:ext cx="274320" cy="54864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15400" y="2439734"/>
            <a:ext cx="73152" cy="201168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961119" y="1214438"/>
            <a:ext cx="2606040" cy="457200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8598" y="12669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Step 4  Apply &amp; Restart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8340" y="2264328"/>
            <a:ext cx="23317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"/>
              </a:rPr>
              <a:t>Click Apply &amp; Restart.
Docker is now ready
for Oracle XE on M1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/M2/M3</a:t>
            </a:r>
            <a:endParaRPr sz="1100" b="0" i="0" dirty="0">
              <a:solidFill>
                <a:srgbClr val="1A1A2E"/>
              </a:solidFill>
              <a:latin typeface="Calibri"/>
            </a:endParaRPr>
          </a:p>
        </p:txBody>
      </p:sp>
      <p:pic>
        <p:nvPicPr>
          <p:cNvPr id="29" name="Picture 28" descr="docker_arrow.png"/>
          <p:cNvPicPr>
            <a:picLocks noChangeAspect="1"/>
          </p:cNvPicPr>
          <p:nvPr/>
        </p:nvPicPr>
        <p:blipFill>
          <a:blip r:embed="rId3"/>
          <a:srcRect t="2" b="21259"/>
          <a:stretch>
            <a:fillRect/>
          </a:stretch>
        </p:blipFill>
        <p:spPr>
          <a:xfrm>
            <a:off x="18553" y="3872050"/>
            <a:ext cx="5696447" cy="231745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20040" y="3365440"/>
            <a:ext cx="5486400" cy="36576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Screenshot_2026-04-24_at_12_31_30_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659" y="3368277"/>
            <a:ext cx="6153785" cy="302805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7812312" y="6205603"/>
            <a:ext cx="2881534" cy="371181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84552" y="6257182"/>
            <a:ext cx="30280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✅  Green dot = container </a:t>
            </a:r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is 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running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AF2DE5-1034-DD3B-BF98-5CAF32FC177F}"/>
              </a:ext>
            </a:extLst>
          </p:cNvPr>
          <p:cNvSpPr/>
          <p:nvPr/>
        </p:nvSpPr>
        <p:spPr>
          <a:xfrm>
            <a:off x="1600200" y="3594143"/>
            <a:ext cx="2219241" cy="292608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74520" y="3628150"/>
            <a:ext cx="3657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chemeClr val="bg1"/>
                </a:solidFill>
                <a:latin typeface="Calibri"/>
              </a:rPr>
              <a:t>docker.com</a:t>
            </a:r>
            <a:r>
              <a:rPr sz="1000" b="0" i="1" dirty="0">
                <a:solidFill>
                  <a:schemeClr val="bg1"/>
                </a:solidFill>
                <a:latin typeface="Calibri"/>
              </a:rPr>
              <a:t> download page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3524A4-074C-5E22-31EA-B0FDFC843EF3}"/>
              </a:ext>
            </a:extLst>
          </p:cNvPr>
          <p:cNvSpPr/>
          <p:nvPr/>
        </p:nvSpPr>
        <p:spPr>
          <a:xfrm>
            <a:off x="6988158" y="5483598"/>
            <a:ext cx="5077286" cy="230655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8C1A6756-A99E-6C83-36FA-1A7F41F74F03}"/>
                  </a:ext>
                </a:extLst>
              </p14:cNvPr>
              <p14:cNvContentPartPr/>
              <p14:nvPr/>
            </p14:nvContentPartPr>
            <p14:xfrm rot="2730002">
              <a:off x="7481712" y="5989456"/>
              <a:ext cx="785618" cy="3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8C1A6756-A99E-6C83-36FA-1A7F41F74F0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30002">
                <a:off x="7472715" y="5980456"/>
                <a:ext cx="803252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1B2B2E3A-0153-9C93-23C4-8C1E808FA9F2}"/>
              </a:ext>
            </a:extLst>
          </p:cNvPr>
          <p:cNvSpPr/>
          <p:nvPr/>
        </p:nvSpPr>
        <p:spPr>
          <a:xfrm>
            <a:off x="411479" y="4351466"/>
            <a:ext cx="4933672" cy="416696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496CBD64-BFA9-3CB3-E282-7D0A5AA67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9696" y="5144089"/>
            <a:ext cx="2373351" cy="15822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1005840" cy="4572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6517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011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A1A2E"/>
                </a:solidFill>
                <a:latin typeface="Calibri"/>
              </a:rPr>
              <a:t>Run Oracle XE Database via Docker Terminal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11430000" cy="1920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11430000" cy="347472"/>
          </a:xfrm>
          <a:prstGeom prst="rect">
            <a:avLst/>
          </a:prstGeom>
          <a:solidFill>
            <a:srgbClr val="38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841248"/>
            <a:ext cx="7315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● ● ●   Terminal — killerzone@KillerZones-MacBook-Air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41727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50FA7B"/>
                </a:solidFill>
                <a:latin typeface="Calibri"/>
              </a:rPr>
              <a:t>docker run -d </a:t>
            </a:r>
            <a:endParaRPr lang="en-US" sz="1200" b="0" i="0" dirty="0">
              <a:solidFill>
                <a:srgbClr val="50FA7B"/>
              </a:solidFill>
              <a:latin typeface="Calibri"/>
            </a:endParaRPr>
          </a:p>
          <a:p>
            <a:pPr algn="l"/>
            <a:r>
              <a:rPr lang="en-US" sz="1200" b="0" i="0" dirty="0">
                <a:solidFill>
                  <a:srgbClr val="50FA7B"/>
                </a:solidFill>
                <a:latin typeface="Calibri"/>
              </a:rPr>
              <a:t>--platform </a:t>
            </a:r>
            <a:r>
              <a:rPr lang="en-US" sz="1200" b="0" i="0" dirty="0" err="1">
                <a:solidFill>
                  <a:srgbClr val="50FA7B"/>
                </a:solidFill>
                <a:latin typeface="Calibri"/>
              </a:rPr>
              <a:t>linux</a:t>
            </a:r>
            <a:r>
              <a:rPr lang="en-US" sz="1200" b="0" i="0" dirty="0">
                <a:solidFill>
                  <a:srgbClr val="50FA7B"/>
                </a:solidFill>
                <a:latin typeface="Calibri"/>
              </a:rPr>
              <a:t>/amd64 -p 1521:1521 \
  -e ORACLE_PWD=Oracle123  -e ORACLE_SID=</a:t>
            </a:r>
            <a:r>
              <a:rPr lang="en-US" sz="1200" b="0" i="0" dirty="0" err="1">
                <a:solidFill>
                  <a:srgbClr val="50FA7B"/>
                </a:solidFill>
                <a:latin typeface="Calibri"/>
              </a:rPr>
              <a:t>ord</a:t>
            </a:r>
            <a:r>
              <a:rPr lang="en-US" sz="1200" b="0" i="0" dirty="0">
                <a:solidFill>
                  <a:srgbClr val="50FA7B"/>
                </a:solidFill>
                <a:latin typeface="Calibri"/>
              </a:rPr>
              <a:t> \
  --name </a:t>
            </a:r>
            <a:r>
              <a:rPr lang="en-US" sz="1200" b="0" i="0" dirty="0" err="1">
                <a:solidFill>
                  <a:srgbClr val="50FA7B"/>
                </a:solidFill>
                <a:latin typeface="Calibri"/>
              </a:rPr>
              <a:t>oracleXE</a:t>
            </a:r>
            <a:r>
              <a:rPr lang="en-US" sz="1200" b="0" i="0" dirty="0">
                <a:solidFill>
                  <a:srgbClr val="50FA7B"/>
                </a:solidFill>
                <a:latin typeface="Calibri"/>
              </a:rPr>
              <a:t>  </a:t>
            </a:r>
            <a:r>
              <a:rPr lang="en-US" sz="1200" b="0" i="0" dirty="0" err="1">
                <a:solidFill>
                  <a:srgbClr val="50FA7B"/>
                </a:solidFill>
                <a:latin typeface="Calibri"/>
              </a:rPr>
              <a:t>gvenzl</a:t>
            </a:r>
            <a:r>
              <a:rPr lang="en-US" sz="1200" b="0" i="0" dirty="0">
                <a:solidFill>
                  <a:srgbClr val="50FA7B"/>
                </a:solidFill>
                <a:latin typeface="Calibri"/>
              </a:rPr>
              <a:t>/oracle-xe:21-slim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6AA8"/>
                </a:solidFill>
                <a:latin typeface="Calibri"/>
              </a:rPr>
              <a:t>Terminal Steps: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3756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3375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741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Open Terminal  (Cmd + Space → type Terminal → Enter)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959352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9593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959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Copy &amp; paste the full command above → press Enter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581144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45811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Run:  docker logs -f oracleXE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02936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520293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39512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"/>
              </a:rPr>
              <a:t>Wait for  "DATABASE IS READY TO USE"  message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24728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582472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861304"/>
            <a:ext cx="37750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Press Ctrl+C to stop viewing logs</a:t>
            </a:r>
          </a:p>
        </p:txBody>
      </p:sp>
      <p:pic>
        <p:nvPicPr>
          <p:cNvPr id="27" name="Picture 26" descr="Screenshot_2026-04-24_at_12_25_30_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834640"/>
            <a:ext cx="5852160" cy="384048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476488" y="2920514"/>
            <a:ext cx="2926080" cy="347472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2958084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✅  DATABASE IS READY TO USE</a:t>
            </a:r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SA" sz="1100" b="1" i="0" dirty="0">
                <a:solidFill>
                  <a:srgbClr val="FFFFFF"/>
                </a:solidFill>
                <a:latin typeface="Calibri"/>
              </a:rPr>
              <a:t>!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DE8E3E-137F-AE1C-9A70-F0069D7B2615}"/>
              </a:ext>
            </a:extLst>
          </p:cNvPr>
          <p:cNvSpPr/>
          <p:nvPr/>
        </p:nvSpPr>
        <p:spPr>
          <a:xfrm>
            <a:off x="502920" y="1251226"/>
            <a:ext cx="4265573" cy="878219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11FFAAF-0F97-4A76-769F-971F5F45AE82}"/>
                  </a:ext>
                </a:extLst>
              </p14:cNvPr>
              <p14:cNvContentPartPr/>
              <p14:nvPr/>
            </p14:nvContentPartPr>
            <p14:xfrm>
              <a:off x="4768492" y="1705623"/>
              <a:ext cx="2287676" cy="3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11FFAAF-0F97-4A76-769F-971F5F45AE8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59492" y="1696623"/>
                <a:ext cx="2305315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548CF6D4-A67B-A295-282D-19629CBC0587}"/>
              </a:ext>
            </a:extLst>
          </p:cNvPr>
          <p:cNvSpPr txBox="1"/>
          <p:nvPr/>
        </p:nvSpPr>
        <p:spPr>
          <a:xfrm>
            <a:off x="4768492" y="1725990"/>
            <a:ext cx="238045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Run this command in your Terminal to access the oracle database XE (Express Edition) locally.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1DDBD471-2112-B27F-06FF-F6AD325D52AB}"/>
                  </a:ext>
                </a:extLst>
              </p14:cNvPr>
              <p14:cNvContentPartPr/>
              <p14:nvPr/>
            </p14:nvContentPartPr>
            <p14:xfrm>
              <a:off x="3233980" y="6120326"/>
              <a:ext cx="2631963" cy="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1DDBD471-2112-B27F-06FF-F6AD325D52A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224980" y="6111326"/>
                <a:ext cx="2649603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55DF350-2828-C978-03A8-1EDF27E70BFF}"/>
              </a:ext>
            </a:extLst>
          </p:cNvPr>
          <p:cNvSpPr/>
          <p:nvPr/>
        </p:nvSpPr>
        <p:spPr>
          <a:xfrm>
            <a:off x="5852160" y="6035040"/>
            <a:ext cx="4265573" cy="17057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614738-BD8A-4842-7458-EC7A577992AF}"/>
              </a:ext>
            </a:extLst>
          </p:cNvPr>
          <p:cNvSpPr txBox="1"/>
          <p:nvPr/>
        </p:nvSpPr>
        <p:spPr>
          <a:xfrm>
            <a:off x="3149601" y="6191149"/>
            <a:ext cx="271634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Your Pluggable database (ORD) has been opened in READ WRITE mode and is now operational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1005840" cy="457200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785" y="24688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011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Calibri"/>
              </a:rPr>
              <a:t>Connect SQL Developer to Oracle Database</a:t>
            </a:r>
          </a:p>
        </p:txBody>
      </p:sp>
      <p:pic>
        <p:nvPicPr>
          <p:cNvPr id="7" name="Picture 6" descr="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4" y="1046878"/>
            <a:ext cx="658368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777240"/>
            <a:ext cx="6583680" cy="36576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601994" y="4661370"/>
            <a:ext cx="2133600" cy="26161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19677" y="4661370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Calibri"/>
              </a:rPr>
              <a:t>         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Select 'Service name', type: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ord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223760" y="7772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6AA8"/>
                </a:solidFill>
                <a:latin typeface="Calibri"/>
              </a:rPr>
              <a:t>Fill in exactly these settings: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298448"/>
            <a:ext cx="169164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961120" y="1298448"/>
            <a:ext cx="27432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0" y="1298448"/>
            <a:ext cx="274320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1389888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5570"/>
                </a:solidFill>
                <a:latin typeface="Calibri"/>
              </a:rPr>
              <a:t>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4272" y="1389888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my_database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048255"/>
            <a:ext cx="169164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61120" y="2048255"/>
            <a:ext cx="27432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61120" y="2048255"/>
            <a:ext cx="274320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139696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5570"/>
                </a:solidFill>
                <a:latin typeface="Calibri"/>
              </a:rPr>
              <a:t>Username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4272" y="213969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sys as sysdba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2798063"/>
            <a:ext cx="169164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61120" y="2798063"/>
            <a:ext cx="27432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61120" y="2798063"/>
            <a:ext cx="274320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69480" y="2889503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5570"/>
                </a:solidFill>
                <a:latin typeface="Calibri"/>
              </a:rPr>
              <a:t>Password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889503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Oracle123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3547872"/>
            <a:ext cx="169164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961120" y="3547872"/>
            <a:ext cx="27432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961120" y="3547872"/>
            <a:ext cx="274320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69480" y="363931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5570"/>
                </a:solidFill>
                <a:latin typeface="Calibri"/>
              </a:rPr>
              <a:t>Hostname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3639312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localhost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297679"/>
            <a:ext cx="169164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61120" y="4297679"/>
            <a:ext cx="27432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961120" y="4297679"/>
            <a:ext cx="274320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69480" y="4389119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5570"/>
                </a:solidFill>
                <a:latin typeface="Calibri"/>
              </a:rPr>
              <a:t>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4389119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5047488"/>
            <a:ext cx="169164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961120" y="5047488"/>
            <a:ext cx="27432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61120" y="5047488"/>
            <a:ext cx="274320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269480" y="5138927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5570"/>
                </a:solidFill>
                <a:latin typeface="Calibri"/>
              </a:rPr>
              <a:t>Service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34272" y="5138927"/>
            <a:ext cx="2606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1" i="0" dirty="0">
                <a:solidFill>
                  <a:srgbClr val="C0392B"/>
                </a:solidFill>
                <a:latin typeface="Calibri"/>
              </a:rPr>
              <a:t>O</a:t>
            </a:r>
            <a:r>
              <a:rPr sz="1200" b="1" i="0" dirty="0">
                <a:solidFill>
                  <a:srgbClr val="C0392B"/>
                </a:solidFill>
                <a:latin typeface="Calibri"/>
              </a:rPr>
              <a:t>rd</a:t>
            </a:r>
            <a:r>
              <a:rPr lang="en-US" sz="1200" b="1" i="0" dirty="0">
                <a:solidFill>
                  <a:srgbClr val="C0392B"/>
                </a:solidFill>
                <a:latin typeface="Calibri"/>
              </a:rPr>
              <a:t>                           &lt;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Important&gt;</a:t>
            </a:r>
            <a:endParaRPr sz="1200" b="1" i="0" dirty="0">
              <a:solidFill>
                <a:srgbClr val="C0392B"/>
              </a:solidFill>
              <a:latin typeface="Calibr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251065" y="5847478"/>
            <a:ext cx="4572000" cy="502920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21236" y="5952744"/>
            <a:ext cx="4389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                    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Status: Success →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Test &amp; Then 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Click Connect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.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1C0E5B-4578-D5F5-9607-2EE69982C6F6}"/>
              </a:ext>
            </a:extLst>
          </p:cNvPr>
          <p:cNvSpPr/>
          <p:nvPr/>
        </p:nvSpPr>
        <p:spPr>
          <a:xfrm>
            <a:off x="2473555" y="4234086"/>
            <a:ext cx="2711139" cy="168988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B4999DA4-2D5D-F687-121C-5D8022205B77}"/>
                  </a:ext>
                </a:extLst>
              </p14:cNvPr>
              <p14:cNvContentPartPr/>
              <p14:nvPr/>
            </p14:nvContentPartPr>
            <p14:xfrm rot="3905794">
              <a:off x="3464747" y="4533729"/>
              <a:ext cx="291203" cy="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B4999DA4-2D5D-F687-121C-5D8022205B7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3905794">
                <a:off x="3455759" y="4524729"/>
                <a:ext cx="308819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100584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785" y="26517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01168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A1A2E"/>
                </a:solidFill>
                <a:latin typeface="Calibri"/>
              </a:rPr>
              <a:t>Run SQL Queries </a:t>
            </a:r>
            <a:r>
              <a:rPr lang="en-US" sz="2400" b="1" dirty="0">
                <a:solidFill>
                  <a:srgbClr val="1A1A2E"/>
                </a:solidFill>
                <a:latin typeface="Calibri"/>
              </a:rPr>
              <a:t>, </a:t>
            </a:r>
            <a:r>
              <a:rPr sz="2400" b="1" i="0" dirty="0">
                <a:solidFill>
                  <a:srgbClr val="1A1A2E"/>
                </a:solidFill>
                <a:latin typeface="Calibri"/>
              </a:rPr>
              <a:t>Create Tables &amp; Insert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777240"/>
            <a:ext cx="77724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82296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6AA8"/>
                </a:solidFill>
                <a:latin typeface="Calibri"/>
              </a:rPr>
              <a:t>Key SQL Commands: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325880"/>
            <a:ext cx="3657600" cy="9144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325880"/>
            <a:ext cx="13716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0" y="158191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CREATE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46303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Define table structure
with columns &amp; primary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2377439"/>
            <a:ext cx="3657600" cy="9144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66760" y="2377439"/>
            <a:ext cx="1371600" cy="914400"/>
          </a:xfrm>
          <a:prstGeom prst="rect">
            <a:avLst/>
          </a:prstGeom>
          <a:solidFill>
            <a:srgbClr val="08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63347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INSERT INTO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02368" y="251459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Add employee records
with values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3429000"/>
            <a:ext cx="3657600" cy="9144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66760" y="3429000"/>
            <a:ext cx="1371600" cy="9144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0" y="36850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356616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Permanently save all
changes to database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4480559"/>
            <a:ext cx="3657600" cy="9144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66760" y="4480559"/>
            <a:ext cx="1371600" cy="914400"/>
          </a:xfrm>
          <a:prstGeom prst="rect">
            <a:avLst/>
          </a:prstGeom>
          <a:solidFill>
            <a:srgbClr val="157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473659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SELECT 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6177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Retrieve and display
all rows from 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5532120"/>
            <a:ext cx="3657600" cy="9144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366760" y="5532120"/>
            <a:ext cx="1371600" cy="914400"/>
          </a:xfrm>
          <a:prstGeom prst="rect">
            <a:avLst/>
          </a:prstGeom>
          <a:solidFill>
            <a:srgbClr val="44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578815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2368" y="566928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Show column names
and data 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644652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 dirty="0">
                <a:solidFill>
                  <a:srgbClr val="C0392B"/>
                </a:solidFill>
                <a:latin typeface="Calibri"/>
              </a:rPr>
              <a:t>Press F5 to run the full script at once</a:t>
            </a:r>
            <a:r>
              <a:rPr lang="en-US" sz="1200" b="1" i="1" dirty="0">
                <a:solidFill>
                  <a:srgbClr val="C0392B"/>
                </a:solidFill>
                <a:latin typeface="Calibri"/>
              </a:rPr>
              <a:t>.</a:t>
            </a:r>
            <a:endParaRPr sz="1200" b="1" i="1" dirty="0">
              <a:solidFill>
                <a:srgbClr val="C0392B"/>
              </a:solidFill>
              <a:latin typeface="Calibri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A0E6B2C-387A-80E0-42B3-4D2C59C1B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772400" cy="518001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Part 2: Database Concepts &amp; SQL*Plus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CADCFC"/>
                </a:solidFill>
                <a:latin typeface="Calibri"/>
              </a:rPr>
              <a:t>Definitions (DBA, SysAdmin, Data Administrator) and instance queries,</a:t>
            </a:r>
          </a:p>
          <a:p>
            <a:pPr algn="ctr"/>
            <a:r>
              <a:rPr sz="1800" b="0">
                <a:solidFill>
                  <a:srgbClr val="CADCFC"/>
                </a:solidFill>
                <a:latin typeface="Calibri"/>
              </a:rPr>
              <a:t>run on the Oracle XE container (oracleXE) set up in Steps 1 to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What is a Database?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486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A database is a structured collection of related data, stored electronically so it can be added to, searched, updated and managed easily.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Instead of scattering records across many separate files, everything lives in one organised place that many users and programs can share safely.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Example: a university STUDENTS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5448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Student ID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Ali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CS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Sara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John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SE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155680" cy="9144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A1A2E"/>
                </a:solidFill>
                <a:latin typeface="Calibri"/>
              </a:rPr>
              <a:t>In this assignment, the database is Oracle XE running inside Docker on macOS: container oracleXE, pluggable database ORD (Step 3).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What is Oracle Database (19c / XE)?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669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Oracle Database is a relational database management system (RDBMS) made by Oracle Corporation. It stores, secures and retrieves large amounts of data for organisations.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Why “19c”? 19 = release 19, c = cloud. It is the long-term-support release taught in this course.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A bank, for example, would keep: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221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Customer &amp; employee information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251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Account details &amp; transactions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4632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2803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Loan records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097280"/>
            <a:ext cx="5120640" cy="23774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On my Mac (Apple Silicon)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Oracle 19c Enterprise has no native macOS installer, so I use Oracle Database XE (Express Edition): the free edition, run through Docker (gvenzl/oracle-xe:21-slim).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749039"/>
            <a:ext cx="5120640" cy="109728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Same SQL &amp; SQL*Plus commands → same DBA concepts as 19c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Database Administrator (DBA)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A DBA is the person responsible for running an organisation’s database system, keeping its data secure, available, correctly managed and fast.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2651760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Controls who can access data and what they may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011680"/>
            <a:ext cx="2651760" cy="4572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Backup &amp;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46888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Keeps copies of data and restores it after loss or 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2651760" cy="457200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46888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Watches speed and fixes slow queries or settings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11680"/>
            <a:ext cx="2651760" cy="457200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Install &amp; Configure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46888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Installs the DBMS and sets it up for the organisation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Troubleshooting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8056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Finds and solves database problems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Storage Planning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448056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Makes sure there is room for future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023360"/>
            <a:ext cx="2651760" cy="457200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High Availability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480560"/>
            <a:ext cx="2651760" cy="128016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A1A2E"/>
                </a:solidFill>
                <a:latin typeface="Calibri"/>
              </a:rPr>
              <a:t>Keeps the database online with minimal downtime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What is a System Administrator?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A System Administrator (SysAdmin) looks after an organisation’s computers, servers, operating systems and networks.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Calibri"/>
              </a:rPr>
              <a:t>On my Mac setup, the SysAdmin side covers installing Docker Desktop and enabling Rosetta (Step 2).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05156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79" y="103327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Install operating systems &amp;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655064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79" y="16367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Manage servers &amp; hardware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258568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240279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Create and manage system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862072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284378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Configure networks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3465576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44728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Monitor system performance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06908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0507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Manage system security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4672583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65429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Troubleshoot system problems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DBA vs System Administrator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Database Administrator (DBA)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System Administrator (SysAdmin)</a:t>
                      </a:r>
                    </a:p>
                  </a:txBody>
                  <a:tcPr>
                    <a:solidFill>
                      <a:srgbClr val="6F42C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Manages databases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Manages computer systems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Works with database software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Works with operating systems &amp; servers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Protects data &amp; DB security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Protects OS &amp; system security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Database backup &amp; 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System / server backup &amp; 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Monitors database performance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Monitors system performance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Example: Oracle 19c / XE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2E"/>
                          </a:solidFill>
                          <a:latin typeface="Calibri"/>
                        </a:rPr>
                        <a:t>Example: macOS, Linux, Windows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Data Administrator vs Database Administrator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394960" cy="502920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Data Administrator (DA): business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Decides how the organisation’s data is collected, organised, stored, protected and used.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505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Decides what data is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5351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Sets data rules &amp; standards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7472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5643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Keeps data accurate &amp; consistent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5935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Writes data policies &amp; procedures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8056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62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Decides who may access which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8348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651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Works with departments on their data needs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097280"/>
            <a:ext cx="5394960" cy="502920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Database Administrator (DBA): technical side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4592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</a:rPr>
              <a:t>Handles the technical management and maintenance of the database itself.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46888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4505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Installs &amp; configures Oracle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7180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95351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Creates and manages databases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47472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45643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Creates users &amp; grants permissions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97764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95935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Performs backup &amp; recovery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48056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462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Monitors performance &amp; fixes problems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98348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9651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Keeps the database available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Connect to Oracle as SYSDBA (macOS Terminal)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$ docker start oracleXE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$ docker exec -it oracleXE sqlplus / as sysdba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/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Start the container from Step 3 (if stopped)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Open SQL*Plus inside it with OS authentication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“/ as sysdba” = full admin rights, no password needed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Expect: “Connected to: Oracle Database 21c Express Edition”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Startup &amp; Shutdown the Instance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startup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shutdown immediate;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startup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F42C1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STARTUP on a running DB gives ORA-01081 (already running)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SHUTDOWN IMMEDIATE closes, dismounts, stops the instance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STARTUP again: instance started → mounted → opened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Output also lists SGA sizes (your numbers will differ)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Check Instance Name &amp;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select instance_name, status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  from v$instance;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86AA8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v$instance is a dynamic performance 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instance_name: name of the running instance (XE on Docker)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status: OPEN means users can work in the database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PDB ORD from Step 3 lives inside this instance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View the db_writer_processes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select name, value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  from v$parameter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  where name='db_writer_processes';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57A47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v$parameter lists initialization parameters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db_writer_processes = number of DBWn background processes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DBWn writes changed blocks from buffer cache to data 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157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Note the current VALUE before changing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Change a Static Parameter (SCOPE=SPFILE)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alter system set db_writer_processes=2;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→ ORA-02095: specified initialization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  parameter cannot be modified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/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alter system set db_writer_processes=2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  scope=spfile;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→ System altered.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Static parameter: cannot change in the running instance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SCOPE=SPFILE saves it to the server parameter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New value takes effect only after a restart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(If ORA-32001 appears, the DB was started without SPFILE)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Restart &amp; Verify the New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shutdown immediate;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startup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select name, value from v$parameter</a:t>
            </a:r>
          </a:p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     where name='db_writer_processes';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F42C1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Restart so the instance re-reads the SPFILE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Run the same query from Query 3 again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VALUE should now show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Proves the change was applied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20040"/>
            <a:ext cx="1005840" cy="365760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QUERY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2468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Show the System Global Area (SGA)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669280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16128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16128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116128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78992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Terminal — sqlplus (oracleXE)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19"/>
            <a:ext cx="539496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0FA7B"/>
                </a:solidFill>
                <a:latin typeface="Courier New"/>
              </a:rPr>
              <a:t>SQL&gt; show sga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86AA8"/>
                </a:solidFill>
                <a:latin typeface="Calibri"/>
              </a:rPr>
              <a:t>What it does: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SGA = shared memory area of the Oracle instance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Fixed Size, Variable Size: internal structures &amp; pools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Database Buffers: cache of data blocks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384048" cy="384048"/>
          </a:xfrm>
          <a:prstGeom prst="rect">
            <a:avLst/>
          </a:prstGeom>
          <a:solidFill>
            <a:srgbClr val="08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6509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Redo Buffers: holds redo entries before writing to logs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F2F6FB"/>
          </a:solidFill>
          <a:ln w="19050">
            <a:solidFill>
              <a:srgbClr val="445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445570"/>
                </a:solidFill>
                <a:latin typeface="Calibri"/>
              </a:rPr>
              <a:t>Paste your own Terminal screenshot here
(Cmd + Shift + 4 → drag over the Terminal window)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633</Words>
  <Application>Microsoft Macintosh PowerPoint</Application>
  <PresentationFormat>Custom</PresentationFormat>
  <Paragraphs>109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Anthropic Sans</vt:lpstr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Microsoft Office User</cp:lastModifiedBy>
  <cp:revision>4</cp:revision>
  <dcterms:created xsi:type="dcterms:W3CDTF">2013-01-27T09:14:16Z</dcterms:created>
  <dcterms:modified xsi:type="dcterms:W3CDTF">2026-10-08T07:00:44Z</dcterms:modified>
  <cp:category/>
</cp:coreProperties>
</file>